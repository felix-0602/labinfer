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开场：LabInfer 是化学实验数据的 AI 解读工作台。拍一张实验数据，它不只算出结果，还告诉你这组数据说明了什么、哪里可能不对、下次怎么改。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竞争对手不是通用大模型，而是专业工具链：取数用 WebPlotDigitizer，拟合用 Origin 或 Python，参考值回文献翻。它们都停在数据到结果。结果说明了什么，没有工具。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四章：架构、数据流、教学、调优。第一章回答凭什么信，第二章回答数据是不是真的，第三章是学生读不读得懂，第四章兑现开头那句「下次怎么改」。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这是我们的数据流。三路输入：手写记录照片进 M1，文献曲线截图进 M2，实验模板进 M3。M1、M2 产出两份数据集，和 M3 的实验上下文一起汇进 M4。M4 是唯一算数的地方，用代码算出分析结果；M5 只读这份结果，写成结论列表。能写成参数的结论交给 M6 推演，再回到 M4 重算；M7 汇总成报告。M8 前端把这一切串成一个页面流程，自己不算任何数。右上角就是这台透明的推理机。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这是和通用大模型最大的区别：计算全部由代码完成，AI 只解读计算结果。结论里的数字必须能在计算结果里找到，由代码校验，伪造的原值整条剔除，计算幻觉从机制上消除。107 个测试全绿。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数据从三处来：学生的手写记录、教材里的实验上下文、论文里的图表。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左图是真实记录页的微距：清楚的那一行就是机器正在读的那一行，蓝框是识别结果。远处的红旗是低置信的格子，留给人校正。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实验上下文存成模板，忠实还原课本。右图的书塔是讲解阶梯的层层上下：学生站在最底下亮着的第 3 级，往上一级只深一步。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左右两句都是系统真实输出过的，git 里能查到：同一条结论、同一组数字，只换了表达层。改写前数字和符号挤在第一句里；改写后先说判定，再给报告口径。迭代循环里，事实由代码校验，不通过就回灌重写，有硬上限，演示不会卡住。在线 LLM 走同一套标准，实测 9 条全过、零丢弃；现场演示走确定性保底，保证可复现。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论文和教材里的图表，可以自动取回数据。界面里是一条文献滴定曲线，4 个校准点，换算残差 0.003 像素。模型注册表现有三个模型，新增模型只要一个子类加一行注册。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公式、常数、模型都在代码里。左边大号数字是碱灰总碱度 60.63%，比按纯碳酸钠算的理论值 58.47% 还高。右边截图是标定那一步的结果页：顶上是 HCl 浓度 0.1027 mol/L，下面是滴定曲线，红圈是三份终点的偏离。标定的相对平均偏差 1.31%，超出 0.2% 的限值，这正是后面 AI 要解读、第四章要追到底的地方。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的每条结论都挂回具体数据点。这一条指向第二份终点：它离计量点最远，所以这一份的终点判断偏差最大。它也是第四章归因链的入口：为什么偏、下次怎么改。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学生读 AI 分析，第一遍想知道我的结果怎么样，第二遍才是要写进报告的口径。所以每条结论分两遍写。判定句还有三条规矩：只判证据撑得住的范围；说太、过、超，必须带出和什么比；所有首句连起来读不能互相矛盾。右图三条腿是三份平行，挂红标签的那条就是偏了的那一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左边是讲解阶梯：结论下面可以展开到 4 级、5 级、6 级。右边是术语卡片：标定，拿一份纯到可以完全信任的固体，反过来测出一瓶溶液的真实浓度，出处是《分析化学实验》实验 3。现在一共 18 张术语卡，13 个概念加 5 个符号。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开头说过，现有工具不回答「下次怎么改」。这一页兑现它。三份标定散了 1.31%，而天平和滴定管的误差预算只有 0.15%，差 8.7 倍，所以问题不在器具，在操作。再往下锁定：p2 的终点偏得最远，下次只改停手时机这一个变量。最后带参数推演：把 p3 的终点收回 0.516 mL，看散布能收窄多少；近终点煮沸赶走 CO₂，看突跃变得多陡。先在模型里试，再回实验室试。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算得对、说得清、读得懂、改得准。接下来现场演示 HCl 标定与碱灰总碱度。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notesSlide" Target="../notesSlides/notesSlide16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hero" descr="/mnt/attach/project-files/ppt-storyboard/deck/img/cov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35" y="-38100"/>
            <a:ext cx="12191695" cy="6858000"/>
          </a:xfrm>
          <a:prstGeom prst="rect">
            <a:avLst/>
          </a:prstGeom>
        </p:spPr>
      </p:pic>
      <p:sp>
        <p:nvSpPr>
          <p:cNvPr id="3" name="!!brand"/>
          <p:cNvSpPr txBox="1"/>
          <p:nvPr/>
        </p:nvSpPr>
        <p:spPr>
          <a:xfrm>
            <a:off x="731520" y="1666240"/>
            <a:ext cx="54864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LabInfer</a:t>
            </a:r>
            <a:endParaRPr lang="en-US" sz="80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777240" y="443484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D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化学实验数据的 AI 解读工作台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D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面向复现实验的学生</a:t>
            </a:r>
            <a:endParaRPr lang="en-US" sz="1400" dirty="0"/>
          </a:p>
        </p:txBody>
      </p:sp>
      <p:sp>
        <p:nvSpPr>
          <p:cNvPr id="6" name="文本框 5"/>
          <p:cNvSpPr txBox="1"/>
          <p:nvPr/>
        </p:nvSpPr>
        <p:spPr>
          <a:xfrm>
            <a:off x="777240" y="3161665"/>
            <a:ext cx="4396105" cy="11245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20000"/>
              </a:lnSpc>
              <a:buClrTx/>
              <a:buSzTx/>
              <a:buNone/>
            </a:pPr>
            <a:r>
              <a:rPr lang="zh-CN" altLang="en-US" sz="2800" b="1">
                <a:solidFill>
                  <a:schemeClr val="bg1"/>
                </a:solidFill>
                <a:latin typeface="Bahnschrift" panose="020B0502040204020203" charset="0"/>
              </a:rPr>
              <a:t>读懂实验数据</a:t>
            </a:r>
            <a:endParaRPr lang="en-US" sz="2000" b="1" dirty="0">
              <a:solidFill>
                <a:srgbClr val="C9D1FF"/>
              </a:solidFill>
              <a:latin typeface="Bahnschrift" panose="020B0502040204020203" charset="0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algn="l">
              <a:lnSpc>
                <a:spcPct val="120000"/>
              </a:lnSpc>
              <a:buClrTx/>
              <a:buSzTx/>
              <a:buNone/>
            </a:pPr>
            <a:r>
              <a:rPr lang="en-US" altLang="zh-CN" sz="2800" b="1">
                <a:solidFill>
                  <a:schemeClr val="bg1"/>
                </a:solidFill>
                <a:latin typeface="Bahnschrift" panose="020B0502040204020203" charset="0"/>
              </a:rPr>
              <a:t>               </a:t>
            </a:r>
            <a:r>
              <a:rPr lang="zh-CN" altLang="en-US" sz="2800" b="1">
                <a:solidFill>
                  <a:schemeClr val="bg1"/>
                </a:solidFill>
                <a:latin typeface="Bahnschrift" panose="020B0502040204020203" charset="0"/>
              </a:rPr>
              <a:t>输出可靠结论</a:t>
            </a:r>
            <a:endParaRPr lang="zh-CN" altLang="en-US" sz="2800" b="1">
              <a:solidFill>
                <a:schemeClr val="bg1"/>
              </a:solidFill>
              <a:latin typeface="Bahnschrift" panose="020B0502040204020203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3474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0B1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LabInfer</a:t>
            </a:r>
            <a:endParaRPr lang="en-US" sz="1200" dirty="0"/>
          </a:p>
        </p:txBody>
      </p:sp>
      <p:sp>
        <p:nvSpPr>
          <p:cNvPr id="3" name="!!title"/>
          <p:cNvSpPr txBox="1"/>
          <p:nvPr/>
        </p:nvSpPr>
        <p:spPr>
          <a:xfrm>
            <a:off x="457200" y="654050"/>
            <a:ext cx="69494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现有工具只做到一半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1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FIG.02 / 竞品是专业工具链，不是通用大模型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691640"/>
            <a:ext cx="12801600" cy="190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2000" b="1" dirty="0">
                <a:solidFill>
                  <a:srgbClr val="C9C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</a:t>
            </a:r>
            <a:endParaRPr lang="en-US" sz="120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1691640"/>
            <a:ext cx="12801600" cy="190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2000" b="1" dirty="0">
                <a:solidFill>
                  <a:srgbClr val="C9C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</a:t>
            </a:r>
            <a:endParaRPr lang="en-US" sz="12000" dirty="0"/>
          </a:p>
        </p:txBody>
      </p:sp>
      <p:sp>
        <p:nvSpPr>
          <p:cNvPr id="7" name="Text 5"/>
          <p:cNvSpPr txBox="1"/>
          <p:nvPr/>
        </p:nvSpPr>
        <p:spPr>
          <a:xfrm>
            <a:off x="8275320" y="1691640"/>
            <a:ext cx="12801600" cy="190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2000" b="1" dirty="0">
                <a:solidFill>
                  <a:srgbClr val="1E3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</a:t>
            </a:r>
            <a:endParaRPr lang="en-US" sz="12000" dirty="0"/>
          </a:p>
        </p:txBody>
      </p:sp>
      <p:sp>
        <p:nvSpPr>
          <p:cNvPr id="8" name="Shape 6"/>
          <p:cNvSpPr/>
          <p:nvPr/>
        </p:nvSpPr>
        <p:spPr>
          <a:xfrm>
            <a:off x="3639312" y="2606040"/>
            <a:ext cx="548640" cy="0"/>
          </a:xfrm>
          <a:prstGeom prst="line">
            <a:avLst/>
          </a:prstGeom>
          <a:noFill/>
          <a:ln w="38100">
            <a:solidFill>
              <a:srgbClr val="C9CED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589520" y="2606040"/>
            <a:ext cx="548640" cy="0"/>
          </a:xfrm>
          <a:prstGeom prst="line">
            <a:avLst/>
          </a:prstGeom>
          <a:noFill/>
          <a:ln w="38100">
            <a:solidFill>
              <a:srgbClr val="1E3BF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3886200"/>
            <a:ext cx="6858000" cy="0"/>
          </a:xfrm>
          <a:prstGeom prst="line">
            <a:avLst/>
          </a:prstGeom>
          <a:noFill/>
          <a:ln w="9525">
            <a:solidFill>
              <a:srgbClr val="0A0B1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776472"/>
            <a:ext cx="0" cy="109728"/>
          </a:xfrm>
          <a:prstGeom prst="line">
            <a:avLst/>
          </a:prstGeom>
          <a:noFill/>
          <a:ln w="9525">
            <a:solidFill>
              <a:srgbClr val="0A0B1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0" y="3776472"/>
            <a:ext cx="0" cy="109728"/>
          </a:xfrm>
          <a:prstGeom prst="line">
            <a:avLst/>
          </a:prstGeom>
          <a:noFill/>
          <a:ln w="9525">
            <a:solidFill>
              <a:srgbClr val="0A0B1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7764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A0B1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现有工具链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366760" y="3886200"/>
            <a:ext cx="3246120" cy="0"/>
          </a:xfrm>
          <a:prstGeom prst="line">
            <a:avLst/>
          </a:prstGeom>
          <a:noFill/>
          <a:ln w="19050">
            <a:solidFill>
              <a:srgbClr val="1E3B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3776472"/>
            <a:ext cx="0" cy="109728"/>
          </a:xfrm>
          <a:prstGeom prst="line">
            <a:avLst/>
          </a:prstGeom>
          <a:noFill/>
          <a:ln w="19050">
            <a:solidFill>
              <a:srgbClr val="1E3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12880" y="3776472"/>
            <a:ext cx="0" cy="109728"/>
          </a:xfrm>
          <a:prstGeom prst="line">
            <a:avLst/>
          </a:prstGeom>
          <a:noFill/>
          <a:ln w="19050">
            <a:solidFill>
              <a:srgbClr val="1E3B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66760" y="397764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E3B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LABINFER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43484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取数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764024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WebPlotDigitizer 手点论文曲线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443484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拟合作图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434840" y="4764024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Origin 或 Python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521208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参考值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434840" y="5541264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回文献里一页页翻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4434840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3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结果正不正常、异常在哪、下一步改什么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366760" y="5166360"/>
            <a:ext cx="32461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这一段过去只能靠经验。LabInfer 补上它，并把上游的取数和拟合一起打通。</a:t>
            </a:r>
            <a:endParaRPr lang="en-US" sz="1200" dirty="0"/>
          </a:p>
        </p:txBody>
      </p:sp>
      <p:sp>
        <p:nvSpPr>
          <p:cNvPr id="26" name="!!pg"/>
          <p:cNvSpPr txBox="1"/>
          <p:nvPr/>
        </p:nvSpPr>
        <p:spPr>
          <a:xfrm>
            <a:off x="10728655" y="638251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/ 16</a:t>
            </a:r>
            <a:endParaRPr lang="en-US" sz="900" dirty="0"/>
          </a:p>
        </p:txBody>
      </p:sp>
      <p:sp>
        <p:nvSpPr>
          <p:cNvPr id="28" name="文本框 27"/>
          <p:cNvSpPr txBox="1"/>
          <p:nvPr/>
        </p:nvSpPr>
        <p:spPr>
          <a:xfrm>
            <a:off x="3802380" y="405130"/>
            <a:ext cx="192468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600" b="1">
                <a:sym typeface="+mn-ea"/>
              </a:rPr>
              <a:t>But</a:t>
            </a:r>
            <a:endParaRPr lang="en-US" altLang="zh-CN" sz="6600" b="1"/>
          </a:p>
        </p:txBody>
      </p:sp>
      <p:sp>
        <p:nvSpPr>
          <p:cNvPr id="29" name="文本框 28"/>
          <p:cNvSpPr txBox="1"/>
          <p:nvPr/>
        </p:nvSpPr>
        <p:spPr>
          <a:xfrm>
            <a:off x="5812790" y="868045"/>
            <a:ext cx="39973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/>
              <a:t>LabInfer 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接入大模型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3474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0B1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LabInfer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55168" y="3611880"/>
            <a:ext cx="12801600" cy="20637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3000" b="1" dirty="0">
                <a:solidFill>
                  <a:srgbClr val="EEF0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3398368" y="3886200"/>
            <a:ext cx="12801600" cy="20637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3000" b="1" dirty="0">
                <a:solidFill>
                  <a:srgbClr val="EEF0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3000" dirty="0"/>
          </a:p>
        </p:txBody>
      </p:sp>
      <p:sp>
        <p:nvSpPr>
          <p:cNvPr id="5" name="Text 3"/>
          <p:cNvSpPr txBox="1"/>
          <p:nvPr/>
        </p:nvSpPr>
        <p:spPr>
          <a:xfrm>
            <a:off x="6141568" y="4160520"/>
            <a:ext cx="12801600" cy="20637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3000" b="1" dirty="0">
                <a:solidFill>
                  <a:srgbClr val="EEF0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3000" dirty="0"/>
          </a:p>
        </p:txBody>
      </p:sp>
      <p:sp>
        <p:nvSpPr>
          <p:cNvPr id="6" name="Text 4"/>
          <p:cNvSpPr txBox="1"/>
          <p:nvPr/>
        </p:nvSpPr>
        <p:spPr>
          <a:xfrm>
            <a:off x="8884768" y="4434840"/>
            <a:ext cx="12801600" cy="20637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3000" b="1" dirty="0">
                <a:solidFill>
                  <a:srgbClr val="EEF0F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3000" dirty="0"/>
          </a:p>
        </p:txBody>
      </p:sp>
      <p:sp>
        <p:nvSpPr>
          <p:cNvPr id="7" name="!!title"/>
          <p:cNvSpPr txBox="1"/>
          <p:nvPr/>
        </p:nvSpPr>
        <p:spPr>
          <a:xfrm>
            <a:off x="548640" y="123444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拍一张实验数据，算出来，还告诉你它说明了什么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1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哪里不对、</a:t>
            </a:r>
            <a:r>
              <a:rPr lang="zh-CN" altLang="en-US" sz="1600" dirty="0">
                <a:solidFill>
                  <a:srgbClr val="6B71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</a:t>
            </a:r>
            <a:r>
              <a:rPr lang="en-US" sz="1600" dirty="0">
                <a:solidFill>
                  <a:srgbClr val="6B71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、</a:t>
            </a:r>
            <a:r>
              <a:rPr lang="en-US" sz="1600" dirty="0">
                <a:solidFill>
                  <a:srgbClr val="6B71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下次怎么改。</a:t>
            </a:r>
            <a:endParaRPr lang="en-US" sz="1600" dirty="0"/>
          </a:p>
        </p:txBody>
      </p:sp>
      <p:sp>
        <p:nvSpPr>
          <p:cNvPr id="9" name="!!rail-b1"/>
          <p:cNvSpPr/>
          <p:nvPr/>
        </p:nvSpPr>
        <p:spPr>
          <a:xfrm>
            <a:off x="746608" y="3246120"/>
            <a:ext cx="2468880" cy="54864"/>
          </a:xfrm>
          <a:prstGeom prst="rect">
            <a:avLst/>
          </a:prstGeom>
          <a:solidFill>
            <a:srgbClr val="D3D8E0"/>
          </a:solidFill>
        </p:spPr>
      </p:sp>
      <p:sp>
        <p:nvSpPr>
          <p:cNvPr id="10" name="!!rail-l1"/>
          <p:cNvSpPr txBox="1"/>
          <p:nvPr/>
        </p:nvSpPr>
        <p:spPr>
          <a:xfrm>
            <a:off x="746608" y="3410712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A8AFB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  </a:t>
            </a:r>
            <a:r>
              <a:rPr lang="en-US" sz="2000" dirty="0">
                <a:solidFill>
                  <a:srgbClr val="A8AFB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</a:t>
            </a:r>
            <a:endParaRPr lang="en-US" sz="2000" dirty="0"/>
          </a:p>
        </p:txBody>
      </p:sp>
      <p:sp>
        <p:nvSpPr>
          <p:cNvPr id="11" name="!!rail-b2"/>
          <p:cNvSpPr/>
          <p:nvPr/>
        </p:nvSpPr>
        <p:spPr>
          <a:xfrm>
            <a:off x="3489808" y="3246120"/>
            <a:ext cx="2468880" cy="54864"/>
          </a:xfrm>
          <a:prstGeom prst="rect">
            <a:avLst/>
          </a:prstGeom>
          <a:solidFill>
            <a:srgbClr val="D3D8E0"/>
          </a:solidFill>
        </p:spPr>
      </p:sp>
      <p:sp>
        <p:nvSpPr>
          <p:cNvPr id="12" name="!!rail-l2"/>
          <p:cNvSpPr txBox="1"/>
          <p:nvPr/>
        </p:nvSpPr>
        <p:spPr>
          <a:xfrm>
            <a:off x="3489808" y="3410712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A8AFB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 </a:t>
            </a:r>
            <a:r>
              <a:rPr lang="en-US" sz="2000" dirty="0">
                <a:solidFill>
                  <a:srgbClr val="A8AFB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数据流</a:t>
            </a:r>
            <a:endParaRPr lang="en-US" sz="2000" dirty="0"/>
          </a:p>
        </p:txBody>
      </p:sp>
      <p:sp>
        <p:nvSpPr>
          <p:cNvPr id="13" name="!!rail-b3"/>
          <p:cNvSpPr/>
          <p:nvPr/>
        </p:nvSpPr>
        <p:spPr>
          <a:xfrm>
            <a:off x="6233008" y="3246120"/>
            <a:ext cx="2468880" cy="54864"/>
          </a:xfrm>
          <a:prstGeom prst="rect">
            <a:avLst/>
          </a:prstGeom>
          <a:solidFill>
            <a:srgbClr val="D3D8E0"/>
          </a:solidFill>
        </p:spPr>
      </p:sp>
      <p:sp>
        <p:nvSpPr>
          <p:cNvPr id="14" name="!!rail-l3"/>
          <p:cNvSpPr txBox="1"/>
          <p:nvPr/>
        </p:nvSpPr>
        <p:spPr>
          <a:xfrm>
            <a:off x="6233008" y="3410712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A8AFB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  </a:t>
            </a:r>
            <a:r>
              <a:rPr lang="en-US" sz="2000" dirty="0">
                <a:solidFill>
                  <a:srgbClr val="A8AFB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</a:t>
            </a:r>
            <a:endParaRPr lang="en-US" sz="2000" dirty="0"/>
          </a:p>
        </p:txBody>
      </p:sp>
      <p:sp>
        <p:nvSpPr>
          <p:cNvPr id="15" name="!!rail-b4"/>
          <p:cNvSpPr/>
          <p:nvPr/>
        </p:nvSpPr>
        <p:spPr>
          <a:xfrm>
            <a:off x="8976208" y="3246120"/>
            <a:ext cx="2468880" cy="54864"/>
          </a:xfrm>
          <a:prstGeom prst="rect">
            <a:avLst/>
          </a:prstGeom>
          <a:solidFill>
            <a:srgbClr val="D3D8E0"/>
          </a:solidFill>
        </p:spPr>
      </p:sp>
      <p:sp>
        <p:nvSpPr>
          <p:cNvPr id="16" name="!!rail-l4"/>
          <p:cNvSpPr txBox="1"/>
          <p:nvPr/>
        </p:nvSpPr>
        <p:spPr>
          <a:xfrm>
            <a:off x="8976208" y="3410712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A8AFB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  </a:t>
            </a:r>
            <a:r>
              <a:rPr lang="en-US" sz="2000" dirty="0">
                <a:solidFill>
                  <a:srgbClr val="A8AFB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调优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46608" y="402336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计算全部交给代码，AI 只解读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489808" y="429768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从手写记录、教材和论文图表，到可视化结论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33008" y="457200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先告诉学生结果怎么样，再给报告口径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976208" y="484632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误差分型、预算对账，带参数推演下一次</a:t>
            </a:r>
            <a:endParaRPr lang="en-US" sz="1400" dirty="0"/>
          </a:p>
        </p:txBody>
      </p:sp>
      <p:sp>
        <p:nvSpPr>
          <p:cNvPr id="21" name="!!pg"/>
          <p:cNvSpPr txBox="1"/>
          <p:nvPr/>
        </p:nvSpPr>
        <p:spPr>
          <a:xfrm>
            <a:off x="10728655" y="638251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3474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0B1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LabInfer</a:t>
            </a:r>
            <a:endParaRPr lang="en-US" sz="1200" dirty="0"/>
          </a:p>
        </p:txBody>
      </p:sp>
      <p:pic>
        <p:nvPicPr>
          <p:cNvPr id="3" name="!!arch" descr="/mnt/attach/project-files/ppt-storyboard/deck/img/arch_card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320040"/>
            <a:ext cx="4800600" cy="29672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9601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 架构</a:t>
            </a:r>
            <a:endParaRPr lang="en-US" sz="1300" dirty="0"/>
          </a:p>
        </p:txBody>
      </p:sp>
      <p:sp>
        <p:nvSpPr>
          <p:cNvPr id="5" name="!!title"/>
          <p:cNvSpPr txBox="1"/>
          <p:nvPr/>
        </p:nvSpPr>
        <p:spPr>
          <a:xfrm>
            <a:off x="548640" y="1325880"/>
            <a:ext cx="56692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一台透明的推理机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9456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三处输入从左边进，结论和报告从右边出，中间每一步都看得见。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260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1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FIG.04 / 数据流 · docs/architecture.md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3611880"/>
            <a:ext cx="1325880" cy="457200"/>
          </a:xfrm>
          <a:prstGeom prst="roundRect">
            <a:avLst>
              <a:gd name="adj" fmla="val 12000"/>
            </a:avLst>
          </a:prstGeom>
          <a:ln w="9525">
            <a:solidFill>
              <a:srgbClr val="A8AFBB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548640" y="361188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1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手写记录照片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874520" y="3840480"/>
            <a:ext cx="228600" cy="0"/>
          </a:xfrm>
          <a:prstGeom prst="line">
            <a:avLst/>
          </a:prstGeom>
          <a:noFill/>
          <a:ln w="12700">
            <a:solidFill>
              <a:srgbClr val="6B718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103120" y="361188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A0B1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103120" y="361188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M1 记录识别</a:t>
            </a:r>
            <a:endParaRPr lang="en-US" sz="11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71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VLM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37560" y="3840480"/>
            <a:ext cx="228600" cy="0"/>
          </a:xfrm>
          <a:prstGeom prst="line">
            <a:avLst/>
          </a:prstGeom>
          <a:noFill/>
          <a:ln w="12700">
            <a:solidFill>
              <a:srgbClr val="6B718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566160" y="361188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E4E8FF"/>
          </a:solidFill>
        </p:spPr>
      </p:sp>
      <p:sp>
        <p:nvSpPr>
          <p:cNvPr id="15" name="Text 12"/>
          <p:cNvSpPr txBox="1"/>
          <p:nvPr/>
        </p:nvSpPr>
        <p:spPr>
          <a:xfrm>
            <a:off x="3566160" y="361188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数据集 · 我的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00600" y="3840480"/>
            <a:ext cx="228600" cy="0"/>
          </a:xfrm>
          <a:prstGeom prst="line">
            <a:avLst/>
          </a:prstGeom>
          <a:noFill/>
          <a:ln w="12700">
            <a:solidFill>
              <a:srgbClr val="6B718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4251960"/>
            <a:ext cx="1325880" cy="457200"/>
          </a:xfrm>
          <a:prstGeom prst="roundRect">
            <a:avLst>
              <a:gd name="adj" fmla="val 12000"/>
            </a:avLst>
          </a:prstGeom>
          <a:ln w="9525">
            <a:solidFill>
              <a:srgbClr val="A8AFBB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548640" y="425196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1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文献曲线截图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874520" y="4480560"/>
            <a:ext cx="228600" cy="0"/>
          </a:xfrm>
          <a:prstGeom prst="line">
            <a:avLst/>
          </a:prstGeom>
          <a:noFill/>
          <a:ln w="12700">
            <a:solidFill>
              <a:srgbClr val="6B7180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2103120" y="425196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A0B1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103120" y="425196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M2 曲线取数</a:t>
            </a:r>
            <a:endParaRPr lang="en-US" sz="11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71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VLM + OpenCV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337560" y="4480560"/>
            <a:ext cx="228600" cy="0"/>
          </a:xfrm>
          <a:prstGeom prst="line">
            <a:avLst/>
          </a:prstGeom>
          <a:noFill/>
          <a:ln w="12700">
            <a:solidFill>
              <a:srgbClr val="6B7180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3566160" y="425196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E4E8FF"/>
          </a:solidFill>
        </p:spPr>
      </p:sp>
      <p:sp>
        <p:nvSpPr>
          <p:cNvPr id="24" name="Text 21"/>
          <p:cNvSpPr txBox="1"/>
          <p:nvPr/>
        </p:nvSpPr>
        <p:spPr>
          <a:xfrm>
            <a:off x="3566160" y="425196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数据集 · 文献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800600" y="4480560"/>
            <a:ext cx="228600" cy="0"/>
          </a:xfrm>
          <a:prstGeom prst="line">
            <a:avLst/>
          </a:prstGeom>
          <a:noFill/>
          <a:ln w="12700">
            <a:solidFill>
              <a:srgbClr val="6B718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48640" y="4892040"/>
            <a:ext cx="1325880" cy="457200"/>
          </a:xfrm>
          <a:prstGeom prst="roundRect">
            <a:avLst>
              <a:gd name="adj" fmla="val 12000"/>
            </a:avLst>
          </a:prstGeom>
          <a:ln w="9525">
            <a:solidFill>
              <a:srgbClr val="A8AFBB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548640" y="489204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1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实验模板 / 信息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874520" y="5120640"/>
            <a:ext cx="228600" cy="0"/>
          </a:xfrm>
          <a:prstGeom prst="line">
            <a:avLst/>
          </a:prstGeom>
          <a:noFill/>
          <a:ln w="12700">
            <a:solidFill>
              <a:srgbClr val="6B7180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2103120" y="489204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A0B1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103120" y="489204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M3 实验上下文</a:t>
            </a:r>
            <a:endParaRPr lang="en-US" sz="11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71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WIKI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337560" y="5120640"/>
            <a:ext cx="1691640" cy="0"/>
          </a:xfrm>
          <a:prstGeom prst="line">
            <a:avLst/>
          </a:prstGeom>
          <a:noFill/>
          <a:ln w="12700">
            <a:solidFill>
              <a:srgbClr val="6B718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029200" y="3840480"/>
            <a:ext cx="0" cy="1280160"/>
          </a:xfrm>
          <a:prstGeom prst="line">
            <a:avLst/>
          </a:prstGeom>
          <a:noFill/>
          <a:ln w="12700">
            <a:solidFill>
              <a:srgbClr val="6B718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029200" y="4480560"/>
            <a:ext cx="228600" cy="0"/>
          </a:xfrm>
          <a:prstGeom prst="line">
            <a:avLst/>
          </a:prstGeom>
          <a:noFill/>
          <a:ln w="12700">
            <a:solidFill>
              <a:srgbClr val="6B7180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5257800" y="425196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1E3BFF"/>
          </a:solidFill>
          <a:ln w="9525">
            <a:solidFill>
              <a:srgbClr val="1E3B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257800" y="425196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M4 计算对比</a:t>
            </a:r>
            <a:endParaRPr lang="en-US" sz="11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1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CODE · numpy/scipy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492240" y="4480560"/>
            <a:ext cx="182880" cy="0"/>
          </a:xfrm>
          <a:prstGeom prst="line">
            <a:avLst/>
          </a:prstGeom>
          <a:noFill/>
          <a:ln w="12700">
            <a:solidFill>
              <a:srgbClr val="6B7180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6675120" y="425196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E4E8FF"/>
          </a:solidFill>
        </p:spPr>
      </p:sp>
      <p:sp>
        <p:nvSpPr>
          <p:cNvPr id="38" name="Text 35"/>
          <p:cNvSpPr txBox="1"/>
          <p:nvPr/>
        </p:nvSpPr>
        <p:spPr>
          <a:xfrm>
            <a:off x="6675120" y="425196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分析结果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772400" y="4480560"/>
            <a:ext cx="182880" cy="0"/>
          </a:xfrm>
          <a:prstGeom prst="line">
            <a:avLst/>
          </a:prstGeom>
          <a:noFill/>
          <a:ln w="12700">
            <a:solidFill>
              <a:srgbClr val="6B7180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7955280" y="425196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E3B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955280" y="425196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M5 AI 解读</a:t>
            </a:r>
            <a:endParaRPr lang="en-US" sz="11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71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LLM · 只读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9144000" y="4480560"/>
            <a:ext cx="182880" cy="0"/>
          </a:xfrm>
          <a:prstGeom prst="line">
            <a:avLst/>
          </a:prstGeom>
          <a:noFill/>
          <a:ln w="12700">
            <a:solidFill>
              <a:srgbClr val="6B7180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9326880" y="4251960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E4E8FF"/>
          </a:solidFill>
        </p:spPr>
      </p:sp>
      <p:sp>
        <p:nvSpPr>
          <p:cNvPr id="44" name="Text 41"/>
          <p:cNvSpPr txBox="1"/>
          <p:nvPr/>
        </p:nvSpPr>
        <p:spPr>
          <a:xfrm>
            <a:off x="9326880" y="425196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结论列表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10469880" y="4480560"/>
            <a:ext cx="182880" cy="0"/>
          </a:xfrm>
          <a:prstGeom prst="line">
            <a:avLst/>
          </a:prstGeom>
          <a:noFill/>
          <a:ln w="12700">
            <a:solidFill>
              <a:srgbClr val="6B7180"/>
            </a:solidFill>
            <a:prstDash val="solid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10652760" y="4251960"/>
            <a:ext cx="106984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A0B10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0652760" y="4251960"/>
            <a:ext cx="10698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M7 报告导出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9893808" y="4709160"/>
            <a:ext cx="0" cy="411480"/>
          </a:xfrm>
          <a:prstGeom prst="line">
            <a:avLst/>
          </a:prstGeom>
          <a:noFill/>
          <a:ln w="12700">
            <a:solidFill>
              <a:srgbClr val="1E3BF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772400" y="5120640"/>
            <a:ext cx="2121408" cy="0"/>
          </a:xfrm>
          <a:prstGeom prst="line">
            <a:avLst/>
          </a:prstGeom>
          <a:noFill/>
          <a:ln w="12700">
            <a:solidFill>
              <a:srgbClr val="1E3BFF"/>
            </a:solidFill>
            <a:prstDash val="solid"/>
            <a:tailEnd type="triangle"/>
          </a:ln>
        </p:spPr>
      </p:sp>
      <p:sp>
        <p:nvSpPr>
          <p:cNvPr id="50" name="Text 47"/>
          <p:cNvSpPr txBox="1"/>
          <p:nvPr/>
        </p:nvSpPr>
        <p:spPr>
          <a:xfrm>
            <a:off x="8275320" y="4901184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1E3B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可推演的结论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6675120" y="489204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A0B1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675120" y="489204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M6 参数推演</a:t>
            </a:r>
            <a:endParaRPr lang="en-US" sz="11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71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滑块 · 预测曲线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5870448" y="5120640"/>
            <a:ext cx="804672" cy="0"/>
          </a:xfrm>
          <a:prstGeom prst="line">
            <a:avLst/>
          </a:prstGeom>
          <a:noFill/>
          <a:ln w="12700">
            <a:solidFill>
              <a:srgbClr val="1E3BF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70448" y="4709160"/>
            <a:ext cx="0" cy="411480"/>
          </a:xfrm>
          <a:prstGeom prst="line">
            <a:avLst/>
          </a:prstGeom>
          <a:noFill/>
          <a:ln w="12700">
            <a:solidFill>
              <a:srgbClr val="1E3BFF"/>
            </a:solidFill>
            <a:prstDash val="solid"/>
            <a:tailEnd type="triangle"/>
          </a:ln>
        </p:spPr>
      </p:sp>
      <p:sp>
        <p:nvSpPr>
          <p:cNvPr id="55" name="Shape 52"/>
          <p:cNvSpPr/>
          <p:nvPr/>
        </p:nvSpPr>
        <p:spPr>
          <a:xfrm>
            <a:off x="384048" y="3456432"/>
            <a:ext cx="11393424" cy="2103120"/>
          </a:xfrm>
          <a:prstGeom prst="rect">
            <a:avLst/>
          </a:prstGeom>
          <a:ln w="9525">
            <a:solidFill>
              <a:srgbClr val="A8AFBB"/>
            </a:solidFill>
            <a:prstDash val="dash"/>
          </a:ln>
        </p:spPr>
      </p:sp>
      <p:sp>
        <p:nvSpPr>
          <p:cNvPr id="56" name="Text 53"/>
          <p:cNvSpPr txBox="1"/>
          <p:nvPr/>
        </p:nvSpPr>
        <p:spPr>
          <a:xfrm>
            <a:off x="548640" y="562356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1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M8 前端工作台 · 把以上模块串成一个页面流程，前端不做任何科学计算</a:t>
            </a:r>
            <a:endParaRPr lang="en-US" sz="900" dirty="0"/>
          </a:p>
        </p:txBody>
      </p:sp>
      <p:sp>
        <p:nvSpPr>
          <p:cNvPr id="57" name="!!rail-b1"/>
          <p:cNvSpPr/>
          <p:nvPr/>
        </p:nvSpPr>
        <p:spPr>
          <a:xfrm>
            <a:off x="2346808" y="6355080"/>
            <a:ext cx="1737360" cy="36576"/>
          </a:xfrm>
          <a:prstGeom prst="rect">
            <a:avLst/>
          </a:prstGeom>
          <a:solidFill>
            <a:srgbClr val="1E3BFF"/>
          </a:solidFill>
        </p:spPr>
      </p:sp>
      <p:sp>
        <p:nvSpPr>
          <p:cNvPr id="58" name="!!rail-l1"/>
          <p:cNvSpPr txBox="1"/>
          <p:nvPr/>
        </p:nvSpPr>
        <p:spPr>
          <a:xfrm>
            <a:off x="234680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3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  </a:t>
            </a:r>
            <a:r>
              <a:rPr lang="en-US" sz="900" dirty="0">
                <a:solidFill>
                  <a:srgbClr val="1E3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</a:t>
            </a:r>
            <a:endParaRPr lang="en-US" sz="900" dirty="0"/>
          </a:p>
        </p:txBody>
      </p:sp>
      <p:sp>
        <p:nvSpPr>
          <p:cNvPr id="59" name="!!rail-b2"/>
          <p:cNvSpPr/>
          <p:nvPr/>
        </p:nvSpPr>
        <p:spPr>
          <a:xfrm>
            <a:off x="4267048" y="6355080"/>
            <a:ext cx="1737360" cy="36576"/>
          </a:xfrm>
          <a:prstGeom prst="rect">
            <a:avLst/>
          </a:prstGeom>
          <a:solidFill>
            <a:srgbClr val="D3D8E0"/>
          </a:solidFill>
        </p:spPr>
      </p:sp>
      <p:sp>
        <p:nvSpPr>
          <p:cNvPr id="60" name="!!rail-l2"/>
          <p:cNvSpPr txBox="1"/>
          <p:nvPr/>
        </p:nvSpPr>
        <p:spPr>
          <a:xfrm>
            <a:off x="426704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A8AFB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 </a:t>
            </a:r>
            <a:r>
              <a:rPr lang="en-US" sz="900" dirty="0">
                <a:solidFill>
                  <a:srgbClr val="A8AFB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数据流</a:t>
            </a:r>
            <a:endParaRPr lang="en-US" sz="900" dirty="0"/>
          </a:p>
        </p:txBody>
      </p:sp>
      <p:sp>
        <p:nvSpPr>
          <p:cNvPr id="61" name="!!rail-b3"/>
          <p:cNvSpPr/>
          <p:nvPr/>
        </p:nvSpPr>
        <p:spPr>
          <a:xfrm>
            <a:off x="6187288" y="6355080"/>
            <a:ext cx="1737360" cy="36576"/>
          </a:xfrm>
          <a:prstGeom prst="rect">
            <a:avLst/>
          </a:prstGeom>
          <a:solidFill>
            <a:srgbClr val="D3D8E0"/>
          </a:solidFill>
        </p:spPr>
      </p:sp>
      <p:sp>
        <p:nvSpPr>
          <p:cNvPr id="62" name="!!rail-l3"/>
          <p:cNvSpPr txBox="1"/>
          <p:nvPr/>
        </p:nvSpPr>
        <p:spPr>
          <a:xfrm>
            <a:off x="618728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A8AFB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  </a:t>
            </a:r>
            <a:r>
              <a:rPr lang="en-US" sz="900" dirty="0">
                <a:solidFill>
                  <a:srgbClr val="A8AFB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</a:t>
            </a:r>
            <a:endParaRPr lang="en-US" sz="900" dirty="0"/>
          </a:p>
        </p:txBody>
      </p:sp>
      <p:sp>
        <p:nvSpPr>
          <p:cNvPr id="63" name="!!rail-b4"/>
          <p:cNvSpPr/>
          <p:nvPr/>
        </p:nvSpPr>
        <p:spPr>
          <a:xfrm>
            <a:off x="8107528" y="6355080"/>
            <a:ext cx="1737360" cy="36576"/>
          </a:xfrm>
          <a:prstGeom prst="rect">
            <a:avLst/>
          </a:prstGeom>
          <a:solidFill>
            <a:srgbClr val="D3D8E0"/>
          </a:solidFill>
        </p:spPr>
      </p:sp>
      <p:sp>
        <p:nvSpPr>
          <p:cNvPr id="64" name="!!rail-l4"/>
          <p:cNvSpPr txBox="1"/>
          <p:nvPr/>
        </p:nvSpPr>
        <p:spPr>
          <a:xfrm>
            <a:off x="810752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A8AFB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  </a:t>
            </a:r>
            <a:r>
              <a:rPr lang="en-US" sz="900" dirty="0">
                <a:solidFill>
                  <a:srgbClr val="A8AFB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调优</a:t>
            </a:r>
            <a:endParaRPr lang="en-US" sz="900" dirty="0"/>
          </a:p>
        </p:txBody>
      </p:sp>
      <p:sp>
        <p:nvSpPr>
          <p:cNvPr id="65" name="!!pg"/>
          <p:cNvSpPr txBox="1"/>
          <p:nvPr/>
        </p:nvSpPr>
        <p:spPr>
          <a:xfrm>
            <a:off x="10728655" y="638251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3474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0B1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LabInfer</a:t>
            </a:r>
            <a:endParaRPr lang="en-US" sz="1200" dirty="0"/>
          </a:p>
        </p:txBody>
      </p:sp>
      <p:sp>
        <p:nvSpPr>
          <p:cNvPr id="3" name="!!title"/>
          <p:cNvSpPr txBox="1"/>
          <p:nvPr/>
        </p:nvSpPr>
        <p:spPr>
          <a:xfrm>
            <a:off x="548640" y="777240"/>
            <a:ext cx="69494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计算全部交给代码，AI 只解读</a:t>
            </a:r>
            <a:endParaRPr lang="en-US" sz="2800" dirty="0"/>
          </a:p>
        </p:txBody>
      </p:sp>
      <p:pic>
        <p:nvPicPr>
          <p:cNvPr id="4" name="!!arch" descr="/mnt/attach/project-files/ppt-storyboard/deck/img/arch_card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548640"/>
            <a:ext cx="4389120" cy="271302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11480" y="1600200"/>
            <a:ext cx="12801600" cy="1333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8400" b="1" dirty="0">
                <a:solidFill>
                  <a:srgbClr val="1E3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</a:t>
            </a:r>
            <a:endParaRPr lang="en-US" sz="8400" dirty="0"/>
          </a:p>
        </p:txBody>
      </p:sp>
      <p:sp>
        <p:nvSpPr>
          <p:cNvPr id="6" name="Text 3"/>
          <p:cNvSpPr txBox="1"/>
          <p:nvPr/>
        </p:nvSpPr>
        <p:spPr>
          <a:xfrm>
            <a:off x="3017520" y="17830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E3B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确定性 · 可复现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2103120"/>
            <a:ext cx="384048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坐标换算（线性、对数轴）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scipy 拟合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格拉布斯离群检验（GB/T 4883）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数字溯源校验器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6309360" cy="0"/>
          </a:xfrm>
          <a:prstGeom prst="line">
            <a:avLst/>
          </a:prstGeom>
          <a:noFill/>
          <a:ln w="9525">
            <a:solidFill>
              <a:srgbClr val="D3D8E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3429000"/>
            <a:ext cx="12801600" cy="1333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8400" b="1" dirty="0">
                <a:solidFill>
                  <a:srgbClr val="0A0B1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</a:t>
            </a:r>
            <a:endParaRPr lang="en-US" sz="8400" dirty="0"/>
          </a:p>
        </p:txBody>
      </p:sp>
      <p:sp>
        <p:nvSpPr>
          <p:cNvPr id="10" name="Text 7"/>
          <p:cNvSpPr txBox="1"/>
          <p:nvPr/>
        </p:nvSpPr>
        <p:spPr>
          <a:xfrm>
            <a:off x="3017520" y="36118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A0B1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只读 · 只解读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3017520" y="3931920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VLM 读手写记录和图表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LLM 把分析结果写成结论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23760" y="352044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223760" y="3520440"/>
            <a:ext cx="1051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M1 记录识别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336585" y="352044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36585" y="3520440"/>
            <a:ext cx="1051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M2 曲线取数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449410" y="352044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449410" y="3520440"/>
            <a:ext cx="1051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M3 实验上下文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0562234" y="352044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1E3BFF"/>
          </a:solidFill>
          <a:ln w="12700">
            <a:solidFill>
              <a:srgbClr val="1E3B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562234" y="3520440"/>
            <a:ext cx="1051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M4 计算对比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223760" y="3995928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1E3B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223760" y="3995928"/>
            <a:ext cx="1051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M5 AI 解读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336585" y="3995928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336585" y="3995928"/>
            <a:ext cx="1051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M6 参数推演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449410" y="3995928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449410" y="3995928"/>
            <a:ext cx="1051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M7 报告导出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10562234" y="3995928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562234" y="3995928"/>
            <a:ext cx="1051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M8 前端工作台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7223760" y="452628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1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八个模块 · M4 计算中枢 · M5 AI 解读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结论里出现的每个数字，都必须能在计算结果里找到，用代码校验。</a:t>
            </a:r>
            <a:r>
              <a:rPr lang="en-US" sz="1800" b="1" dirty="0">
                <a:solidFill>
                  <a:srgbClr val="1E3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LLM 从不当计算器。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5596128"/>
            <a:ext cx="110642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1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契约 0.9.0 · pytest 107 passed · 置信水平随 u95 放行 · 伪造原值偏离真值超 0.5% 整条剔除</a:t>
            </a:r>
            <a:endParaRPr lang="en-US" sz="900" dirty="0"/>
          </a:p>
        </p:txBody>
      </p:sp>
      <p:sp>
        <p:nvSpPr>
          <p:cNvPr id="31" name="!!rail-b1"/>
          <p:cNvSpPr/>
          <p:nvPr/>
        </p:nvSpPr>
        <p:spPr>
          <a:xfrm>
            <a:off x="2346808" y="6355080"/>
            <a:ext cx="1737360" cy="36576"/>
          </a:xfrm>
          <a:prstGeom prst="rect">
            <a:avLst/>
          </a:prstGeom>
          <a:solidFill>
            <a:srgbClr val="1E3BFF"/>
          </a:solidFill>
        </p:spPr>
      </p:sp>
      <p:sp>
        <p:nvSpPr>
          <p:cNvPr id="32" name="!!rail-l1"/>
          <p:cNvSpPr txBox="1"/>
          <p:nvPr/>
        </p:nvSpPr>
        <p:spPr>
          <a:xfrm>
            <a:off x="234680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3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  </a:t>
            </a:r>
            <a:r>
              <a:rPr lang="en-US" sz="900" dirty="0">
                <a:solidFill>
                  <a:srgbClr val="1E3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</a:t>
            </a:r>
            <a:endParaRPr lang="en-US" sz="900" dirty="0"/>
          </a:p>
        </p:txBody>
      </p:sp>
      <p:sp>
        <p:nvSpPr>
          <p:cNvPr id="33" name="!!rail-b2"/>
          <p:cNvSpPr/>
          <p:nvPr/>
        </p:nvSpPr>
        <p:spPr>
          <a:xfrm>
            <a:off x="4267048" y="6355080"/>
            <a:ext cx="1737360" cy="36576"/>
          </a:xfrm>
          <a:prstGeom prst="rect">
            <a:avLst/>
          </a:prstGeom>
          <a:solidFill>
            <a:srgbClr val="D3D8E0"/>
          </a:solidFill>
        </p:spPr>
      </p:sp>
      <p:sp>
        <p:nvSpPr>
          <p:cNvPr id="34" name="!!rail-l2"/>
          <p:cNvSpPr txBox="1"/>
          <p:nvPr/>
        </p:nvSpPr>
        <p:spPr>
          <a:xfrm>
            <a:off x="426704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A8AFB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 </a:t>
            </a:r>
            <a:r>
              <a:rPr lang="en-US" sz="900" dirty="0">
                <a:solidFill>
                  <a:srgbClr val="A8AFB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数据流</a:t>
            </a:r>
            <a:endParaRPr lang="en-US" sz="900" dirty="0"/>
          </a:p>
        </p:txBody>
      </p:sp>
      <p:sp>
        <p:nvSpPr>
          <p:cNvPr id="35" name="!!rail-b3"/>
          <p:cNvSpPr/>
          <p:nvPr/>
        </p:nvSpPr>
        <p:spPr>
          <a:xfrm>
            <a:off x="6187288" y="6355080"/>
            <a:ext cx="1737360" cy="36576"/>
          </a:xfrm>
          <a:prstGeom prst="rect">
            <a:avLst/>
          </a:prstGeom>
          <a:solidFill>
            <a:srgbClr val="D3D8E0"/>
          </a:solidFill>
        </p:spPr>
      </p:sp>
      <p:sp>
        <p:nvSpPr>
          <p:cNvPr id="36" name="!!rail-l3"/>
          <p:cNvSpPr txBox="1"/>
          <p:nvPr/>
        </p:nvSpPr>
        <p:spPr>
          <a:xfrm>
            <a:off x="618728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A8AFB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  </a:t>
            </a:r>
            <a:r>
              <a:rPr lang="en-US" sz="900" dirty="0">
                <a:solidFill>
                  <a:srgbClr val="A8AFB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</a:t>
            </a:r>
            <a:endParaRPr lang="en-US" sz="900" dirty="0"/>
          </a:p>
        </p:txBody>
      </p:sp>
      <p:sp>
        <p:nvSpPr>
          <p:cNvPr id="37" name="!!rail-b4"/>
          <p:cNvSpPr/>
          <p:nvPr/>
        </p:nvSpPr>
        <p:spPr>
          <a:xfrm>
            <a:off x="8107528" y="6355080"/>
            <a:ext cx="1737360" cy="36576"/>
          </a:xfrm>
          <a:prstGeom prst="rect">
            <a:avLst/>
          </a:prstGeom>
          <a:solidFill>
            <a:srgbClr val="D3D8E0"/>
          </a:solidFill>
        </p:spPr>
      </p:sp>
      <p:sp>
        <p:nvSpPr>
          <p:cNvPr id="38" name="!!rail-l4"/>
          <p:cNvSpPr txBox="1"/>
          <p:nvPr/>
        </p:nvSpPr>
        <p:spPr>
          <a:xfrm>
            <a:off x="810752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A8AFB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  </a:t>
            </a:r>
            <a:r>
              <a:rPr lang="en-US" sz="900" dirty="0">
                <a:solidFill>
                  <a:srgbClr val="A8AFB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调优</a:t>
            </a:r>
            <a:endParaRPr lang="en-US" sz="900" dirty="0"/>
          </a:p>
        </p:txBody>
      </p:sp>
      <p:sp>
        <p:nvSpPr>
          <p:cNvPr id="39" name="!!pg"/>
          <p:cNvSpPr txBox="1"/>
          <p:nvPr/>
        </p:nvSpPr>
        <p:spPr>
          <a:xfrm>
            <a:off x="10728655" y="638251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hero" descr="/mnt/attach/project-files/ppt-storyboard/deck/img/flow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brand"/>
          <p:cNvSpPr txBox="1"/>
          <p:nvPr/>
        </p:nvSpPr>
        <p:spPr>
          <a:xfrm>
            <a:off x="548640" y="3474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LabInfer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2194560" y="9144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 数据流</a:t>
            </a:r>
            <a:endParaRPr lang="en-US" sz="1300" dirty="0"/>
          </a:p>
        </p:txBody>
      </p:sp>
      <p:sp>
        <p:nvSpPr>
          <p:cNvPr id="5" name="!!title"/>
          <p:cNvSpPr txBox="1"/>
          <p:nvPr/>
        </p:nvSpPr>
        <p:spPr>
          <a:xfrm>
            <a:off x="2194560" y="1325880"/>
            <a:ext cx="56692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三处来源，汇成一条数据流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2194560" y="2240280"/>
            <a:ext cx="42062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上传手</a:t>
            </a: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写记录</a:t>
            </a:r>
            <a:r>
              <a:rPr lang="zh-CN" alt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</a:t>
            </a: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照片、教材里的实验上下文、论文里的图表，进代码算，再由 AI 解读，最后成为报告。</a:t>
            </a:r>
            <a:endParaRPr lang="en-US" sz="1500" dirty="0"/>
          </a:p>
        </p:txBody>
      </p:sp>
      <p:sp>
        <p:nvSpPr>
          <p:cNvPr id="7" name="!!rail-b1"/>
          <p:cNvSpPr/>
          <p:nvPr/>
        </p:nvSpPr>
        <p:spPr>
          <a:xfrm>
            <a:off x="2346808" y="6355080"/>
            <a:ext cx="1737360" cy="36576"/>
          </a:xfrm>
          <a:prstGeom prst="rect">
            <a:avLst/>
          </a:prstGeom>
          <a:solidFill>
            <a:srgbClr val="8C9BFF"/>
          </a:solidFill>
        </p:spPr>
      </p:sp>
      <p:sp>
        <p:nvSpPr>
          <p:cNvPr id="8" name="!!rail-l1"/>
          <p:cNvSpPr txBox="1"/>
          <p:nvPr/>
        </p:nvSpPr>
        <p:spPr>
          <a:xfrm>
            <a:off x="234680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9D1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  </a:t>
            </a:r>
            <a:r>
              <a:rPr lang="en-US" sz="900" dirty="0">
                <a:solidFill>
                  <a:srgbClr val="C9D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</a:t>
            </a:r>
            <a:endParaRPr lang="en-US" sz="900" dirty="0"/>
          </a:p>
        </p:txBody>
      </p:sp>
      <p:sp>
        <p:nvSpPr>
          <p:cNvPr id="9" name="!!rail-b2"/>
          <p:cNvSpPr/>
          <p:nvPr/>
        </p:nvSpPr>
        <p:spPr>
          <a:xfrm>
            <a:off x="4267048" y="6355080"/>
            <a:ext cx="1737360" cy="36576"/>
          </a:xfrm>
          <a:prstGeom prst="rect">
            <a:avLst/>
          </a:prstGeom>
          <a:solidFill>
            <a:srgbClr val="1E3BFF"/>
          </a:solidFill>
        </p:spPr>
      </p:sp>
      <p:sp>
        <p:nvSpPr>
          <p:cNvPr id="10" name="!!rail-l2"/>
          <p:cNvSpPr txBox="1"/>
          <p:nvPr/>
        </p:nvSpPr>
        <p:spPr>
          <a:xfrm>
            <a:off x="426704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 </a:t>
            </a:r>
            <a:r>
              <a:rPr 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数据流</a:t>
            </a:r>
            <a:endParaRPr lang="en-US" sz="900" dirty="0"/>
          </a:p>
        </p:txBody>
      </p:sp>
      <p:sp>
        <p:nvSpPr>
          <p:cNvPr id="11" name="!!rail-b3"/>
          <p:cNvSpPr/>
          <p:nvPr/>
        </p:nvSpPr>
        <p:spPr>
          <a:xfrm>
            <a:off x="6187288" y="6355080"/>
            <a:ext cx="1737360" cy="365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!!rail-l3"/>
          <p:cNvSpPr txBox="1"/>
          <p:nvPr/>
        </p:nvSpPr>
        <p:spPr>
          <a:xfrm>
            <a:off x="618728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9D1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  </a:t>
            </a:r>
            <a:r>
              <a:rPr lang="en-US" sz="900" dirty="0">
                <a:solidFill>
                  <a:srgbClr val="C9D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</a:t>
            </a:r>
            <a:endParaRPr lang="en-US" sz="900" dirty="0"/>
          </a:p>
        </p:txBody>
      </p:sp>
      <p:sp>
        <p:nvSpPr>
          <p:cNvPr id="13" name="!!rail-b4"/>
          <p:cNvSpPr/>
          <p:nvPr/>
        </p:nvSpPr>
        <p:spPr>
          <a:xfrm>
            <a:off x="8107528" y="6355080"/>
            <a:ext cx="1737360" cy="365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!!rail-l4"/>
          <p:cNvSpPr txBox="1"/>
          <p:nvPr/>
        </p:nvSpPr>
        <p:spPr>
          <a:xfrm>
            <a:off x="810752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9D1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  </a:t>
            </a:r>
            <a:r>
              <a:rPr lang="en-US" sz="900" dirty="0">
                <a:solidFill>
                  <a:srgbClr val="C9D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调优</a:t>
            </a:r>
            <a:endParaRPr lang="en-US" sz="900" dirty="0"/>
          </a:p>
        </p:txBody>
      </p:sp>
      <p:sp>
        <p:nvSpPr>
          <p:cNvPr id="15" name="!!pg"/>
          <p:cNvSpPr txBox="1"/>
          <p:nvPr/>
        </p:nvSpPr>
        <p:spPr>
          <a:xfrm>
            <a:off x="10728655" y="638251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panel" descr="/mnt/attach/project-files/ppt-storyboard/deck/img/focus_pane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66560" cy="6080760"/>
          </a:xfrm>
          <a:prstGeom prst="rect">
            <a:avLst/>
          </a:prstGeom>
        </p:spPr>
      </p:pic>
      <p:sp>
        <p:nvSpPr>
          <p:cNvPr id="3" name="!!brand"/>
          <p:cNvSpPr txBox="1"/>
          <p:nvPr/>
        </p:nvSpPr>
        <p:spPr>
          <a:xfrm>
            <a:off x="548640" y="3474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0B1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LabInfer</a:t>
            </a:r>
            <a:endParaRPr lang="en-US" sz="1200" dirty="0"/>
          </a:p>
        </p:txBody>
      </p:sp>
      <p:sp>
        <p:nvSpPr>
          <p:cNvPr id="4" name="!!title"/>
          <p:cNvSpPr txBox="1"/>
          <p:nvPr/>
        </p:nvSpPr>
        <p:spPr>
          <a:xfrm>
            <a:off x="7223760" y="777240"/>
            <a:ext cx="44805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VLM 识别数据图，保留降级人工方案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223760" y="2045970"/>
            <a:ext cx="73152" cy="73152"/>
          </a:xfrm>
          <a:prstGeom prst="ellipse">
            <a:avLst/>
          </a:prstGeom>
          <a:solidFill>
            <a:srgbClr val="1E3BFF"/>
          </a:solidFill>
        </p:spPr>
      </p:sp>
      <p:sp>
        <p:nvSpPr>
          <p:cNvPr id="6" name="Text 3"/>
          <p:cNvSpPr txBox="1"/>
          <p:nvPr/>
        </p:nvSpPr>
        <p:spPr>
          <a:xfrm>
            <a:off x="7452360" y="1965960"/>
            <a:ext cx="4206240" cy="8633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先让 VLM 做版面分析，找出每张表的边界，再逐表识别。多表的记录页拆开以后，识别稳定性明显提高。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223760" y="3110484"/>
            <a:ext cx="73152" cy="73152"/>
          </a:xfrm>
          <a:prstGeom prst="ellipse">
            <a:avLst/>
          </a:prstGeom>
          <a:solidFill>
            <a:srgbClr val="E5242B"/>
          </a:solidFill>
        </p:spPr>
      </p:sp>
      <p:sp>
        <p:nvSpPr>
          <p:cNvPr id="8" name="Text 5"/>
          <p:cNvSpPr txBox="1"/>
          <p:nvPr/>
        </p:nvSpPr>
        <p:spPr>
          <a:xfrm>
            <a:off x="7452360" y="3030474"/>
            <a:ext cx="4206240" cy="8633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手写数字会认错：这一页的 1.5919 曾被读成 0.5999。</a:t>
            </a:r>
            <a:r>
              <a:rPr lang="zh-CN" altLang="en-US" sz="14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</a:t>
            </a:r>
            <a:r>
              <a:rPr lang="en-US" sz="14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低置信的格子标出来，由人校正。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223760" y="4174998"/>
            <a:ext cx="73152" cy="73152"/>
          </a:xfrm>
          <a:prstGeom prst="ellipse">
            <a:avLst/>
          </a:prstGeom>
          <a:solidFill>
            <a:srgbClr val="1E3BFF"/>
          </a:solidFill>
        </p:spPr>
      </p:sp>
      <p:sp>
        <p:nvSpPr>
          <p:cNvPr id="10" name="Text 7"/>
          <p:cNvSpPr txBox="1"/>
          <p:nvPr/>
        </p:nvSpPr>
        <p:spPr>
          <a:xfrm>
            <a:off x="7452360" y="4094988"/>
            <a:ext cx="4206240" cy="5877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VLM 不可用时进入手动校准，用户自己放 4 个校准点；颜色分不开时切换到手动点取。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223760" y="4963922"/>
            <a:ext cx="73152" cy="73152"/>
          </a:xfrm>
          <a:prstGeom prst="ellipse">
            <a:avLst/>
          </a:prstGeom>
          <a:solidFill>
            <a:srgbClr val="1E3BFF"/>
          </a:solidFill>
        </p:spPr>
      </p:sp>
      <p:sp>
        <p:nvSpPr>
          <p:cNvPr id="12" name="Text 9"/>
          <p:cNvSpPr txBox="1"/>
          <p:nvPr/>
        </p:nvSpPr>
        <p:spPr>
          <a:xfrm>
            <a:off x="7452360" y="4883912"/>
            <a:ext cx="4206240" cy="5877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演示保底：识别结果按图片哈希缓存，网络或模型出问题也能把流程走完。</a:t>
            </a:r>
            <a:endParaRPr lang="en-US" sz="1400" dirty="0"/>
          </a:p>
        </p:txBody>
      </p:sp>
      <p:sp>
        <p:nvSpPr>
          <p:cNvPr id="13" name="!!rail-b1"/>
          <p:cNvSpPr/>
          <p:nvPr/>
        </p:nvSpPr>
        <p:spPr>
          <a:xfrm>
            <a:off x="2346808" y="6355080"/>
            <a:ext cx="1737360" cy="36576"/>
          </a:xfrm>
          <a:prstGeom prst="rect">
            <a:avLst/>
          </a:prstGeom>
          <a:solidFill>
            <a:srgbClr val="A8AFBB"/>
          </a:solidFill>
        </p:spPr>
      </p:sp>
      <p:sp>
        <p:nvSpPr>
          <p:cNvPr id="14" name="!!rail-l1"/>
          <p:cNvSpPr txBox="1"/>
          <p:nvPr/>
        </p:nvSpPr>
        <p:spPr>
          <a:xfrm>
            <a:off x="234680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B71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  </a:t>
            </a:r>
            <a:r>
              <a:rPr lang="en-US" sz="900" dirty="0">
                <a:solidFill>
                  <a:srgbClr val="6B71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</a:t>
            </a:r>
            <a:endParaRPr lang="en-US" sz="900" dirty="0"/>
          </a:p>
        </p:txBody>
      </p:sp>
      <p:sp>
        <p:nvSpPr>
          <p:cNvPr id="15" name="!!rail-b2"/>
          <p:cNvSpPr/>
          <p:nvPr/>
        </p:nvSpPr>
        <p:spPr>
          <a:xfrm>
            <a:off x="4267048" y="6355080"/>
            <a:ext cx="1737360" cy="36576"/>
          </a:xfrm>
          <a:prstGeom prst="rect">
            <a:avLst/>
          </a:prstGeom>
          <a:solidFill>
            <a:srgbClr val="1E3BFF"/>
          </a:solidFill>
        </p:spPr>
      </p:sp>
      <p:sp>
        <p:nvSpPr>
          <p:cNvPr id="16" name="!!rail-l2"/>
          <p:cNvSpPr txBox="1"/>
          <p:nvPr/>
        </p:nvSpPr>
        <p:spPr>
          <a:xfrm>
            <a:off x="426704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3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 </a:t>
            </a:r>
            <a:r>
              <a:rPr lang="en-US" sz="900" dirty="0">
                <a:solidFill>
                  <a:srgbClr val="1E3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数据流</a:t>
            </a:r>
            <a:endParaRPr lang="en-US" sz="900" dirty="0"/>
          </a:p>
        </p:txBody>
      </p:sp>
      <p:sp>
        <p:nvSpPr>
          <p:cNvPr id="17" name="!!rail-b3"/>
          <p:cNvSpPr/>
          <p:nvPr/>
        </p:nvSpPr>
        <p:spPr>
          <a:xfrm>
            <a:off x="6187288" y="6355080"/>
            <a:ext cx="1737360" cy="36576"/>
          </a:xfrm>
          <a:prstGeom prst="rect">
            <a:avLst/>
          </a:prstGeom>
          <a:solidFill>
            <a:srgbClr val="D3D8E0"/>
          </a:solidFill>
        </p:spPr>
      </p:sp>
      <p:sp>
        <p:nvSpPr>
          <p:cNvPr id="18" name="!!rail-l3"/>
          <p:cNvSpPr txBox="1"/>
          <p:nvPr/>
        </p:nvSpPr>
        <p:spPr>
          <a:xfrm>
            <a:off x="618728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A8AFB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  </a:t>
            </a:r>
            <a:r>
              <a:rPr lang="en-US" sz="900" dirty="0">
                <a:solidFill>
                  <a:srgbClr val="A8AFB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</a:t>
            </a:r>
            <a:endParaRPr lang="en-US" sz="900" dirty="0"/>
          </a:p>
        </p:txBody>
      </p:sp>
      <p:sp>
        <p:nvSpPr>
          <p:cNvPr id="19" name="!!rail-b4"/>
          <p:cNvSpPr/>
          <p:nvPr/>
        </p:nvSpPr>
        <p:spPr>
          <a:xfrm>
            <a:off x="8107528" y="6355080"/>
            <a:ext cx="1737360" cy="36576"/>
          </a:xfrm>
          <a:prstGeom prst="rect">
            <a:avLst/>
          </a:prstGeom>
          <a:solidFill>
            <a:srgbClr val="D3D8E0"/>
          </a:solidFill>
        </p:spPr>
      </p:sp>
      <p:sp>
        <p:nvSpPr>
          <p:cNvPr id="20" name="!!rail-l4"/>
          <p:cNvSpPr txBox="1"/>
          <p:nvPr/>
        </p:nvSpPr>
        <p:spPr>
          <a:xfrm>
            <a:off x="810752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A8AFB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  </a:t>
            </a:r>
            <a:r>
              <a:rPr lang="en-US" sz="900" dirty="0">
                <a:solidFill>
                  <a:srgbClr val="A8AFB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调优</a:t>
            </a:r>
            <a:endParaRPr lang="en-US" sz="900" dirty="0"/>
          </a:p>
        </p:txBody>
      </p:sp>
      <p:sp>
        <p:nvSpPr>
          <p:cNvPr id="21" name="!!pg"/>
          <p:cNvSpPr txBox="1"/>
          <p:nvPr/>
        </p:nvSpPr>
        <p:spPr>
          <a:xfrm>
            <a:off x="10728655" y="638251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3474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0B1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LabInfer</a:t>
            </a:r>
            <a:endParaRPr lang="en-US" sz="1200" dirty="0"/>
          </a:p>
        </p:txBody>
      </p:sp>
      <p:pic>
        <p:nvPicPr>
          <p:cNvPr id="3" name="!!panel" descr="/mnt/attach/project-files/ppt-storyboard/deck/img/books_pane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2255" y="0"/>
            <a:ext cx="6949440" cy="6080760"/>
          </a:xfrm>
          <a:prstGeom prst="rect">
            <a:avLst/>
          </a:prstGeom>
        </p:spPr>
      </p:pic>
      <p:sp>
        <p:nvSpPr>
          <p:cNvPr id="4" name="!!title"/>
          <p:cNvSpPr txBox="1"/>
          <p:nvPr/>
        </p:nvSpPr>
        <p:spPr>
          <a:xfrm>
            <a:off x="548640" y="777240"/>
            <a:ext cx="44805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wiki 储存实验上下文，忠实还原课本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2045970"/>
            <a:ext cx="73152" cy="73152"/>
          </a:xfrm>
          <a:prstGeom prst="ellipse">
            <a:avLst/>
          </a:prstGeom>
          <a:solidFill>
            <a:srgbClr val="1E3BFF"/>
          </a:solidFill>
        </p:spPr>
      </p:sp>
      <p:sp>
        <p:nvSpPr>
          <p:cNvPr id="6" name="Text 3"/>
          <p:cNvSpPr txBox="1"/>
          <p:nvPr/>
        </p:nvSpPr>
        <p:spPr>
          <a:xfrm>
            <a:off x="777240" y="1965960"/>
            <a:ext cx="4251960" cy="5877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模板是不含数据的实验上下文：目的、模型、角色绑定、常数、三层参照、质控规则包。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834894"/>
            <a:ext cx="73152" cy="73152"/>
          </a:xfrm>
          <a:prstGeom prst="ellipse">
            <a:avLst/>
          </a:prstGeom>
          <a:solidFill>
            <a:srgbClr val="1E3BFF"/>
          </a:solidFill>
        </p:spPr>
      </p:sp>
      <p:sp>
        <p:nvSpPr>
          <p:cNvPr id="8" name="Text 5"/>
          <p:cNvSpPr txBox="1"/>
          <p:nvPr/>
        </p:nvSpPr>
        <p:spPr>
          <a:xfrm>
            <a:off x="777240" y="2754884"/>
            <a:ext cx="4251960" cy="5877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教材原文和标准条文只存短引文和定位（书名、实验号、页码），再翻译成学生跟得上的话。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623818"/>
            <a:ext cx="73152" cy="73152"/>
          </a:xfrm>
          <a:prstGeom prst="ellipse">
            <a:avLst/>
          </a:prstGeom>
          <a:solidFill>
            <a:srgbClr val="1E3BFF"/>
          </a:solidFill>
        </p:spPr>
      </p:sp>
      <p:sp>
        <p:nvSpPr>
          <p:cNvPr id="10" name="Text 7"/>
          <p:cNvSpPr txBox="1"/>
          <p:nvPr/>
        </p:nvSpPr>
        <p:spPr>
          <a:xfrm>
            <a:off x="777240" y="3543808"/>
            <a:ext cx="4251960" cy="3121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下次做同类实验，只需确认，不必重填。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754880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1E3BFF"/>
          </a:solidFill>
          <a:ln w="12700">
            <a:solidFill>
              <a:srgbClr val="1E3B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75488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HCl 标定与碱灰总碱度 · 演示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5257800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1E3B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525780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碘钟反应动力学 · 规划</a:t>
            </a:r>
            <a:endParaRPr lang="en-US" sz="1100" dirty="0"/>
          </a:p>
        </p:txBody>
      </p:sp>
      <p:sp>
        <p:nvSpPr>
          <p:cNvPr id="15" name="!!rail-b1"/>
          <p:cNvSpPr/>
          <p:nvPr/>
        </p:nvSpPr>
        <p:spPr>
          <a:xfrm>
            <a:off x="2346808" y="6355080"/>
            <a:ext cx="1737360" cy="36576"/>
          </a:xfrm>
          <a:prstGeom prst="rect">
            <a:avLst/>
          </a:prstGeom>
          <a:solidFill>
            <a:srgbClr val="A8AFBB"/>
          </a:solidFill>
        </p:spPr>
      </p:sp>
      <p:sp>
        <p:nvSpPr>
          <p:cNvPr id="16" name="!!rail-l1"/>
          <p:cNvSpPr txBox="1"/>
          <p:nvPr/>
        </p:nvSpPr>
        <p:spPr>
          <a:xfrm>
            <a:off x="234680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B71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  </a:t>
            </a:r>
            <a:r>
              <a:rPr lang="en-US" sz="900" dirty="0">
                <a:solidFill>
                  <a:srgbClr val="6B71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</a:t>
            </a:r>
            <a:endParaRPr lang="en-US" sz="900" dirty="0"/>
          </a:p>
        </p:txBody>
      </p:sp>
      <p:sp>
        <p:nvSpPr>
          <p:cNvPr id="17" name="!!rail-b2"/>
          <p:cNvSpPr/>
          <p:nvPr/>
        </p:nvSpPr>
        <p:spPr>
          <a:xfrm>
            <a:off x="4267048" y="6355080"/>
            <a:ext cx="1737360" cy="36576"/>
          </a:xfrm>
          <a:prstGeom prst="rect">
            <a:avLst/>
          </a:prstGeom>
          <a:solidFill>
            <a:srgbClr val="1E3BFF"/>
          </a:solidFill>
        </p:spPr>
      </p:sp>
      <p:sp>
        <p:nvSpPr>
          <p:cNvPr id="18" name="!!rail-l2"/>
          <p:cNvSpPr txBox="1"/>
          <p:nvPr/>
        </p:nvSpPr>
        <p:spPr>
          <a:xfrm>
            <a:off x="426704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3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 </a:t>
            </a:r>
            <a:r>
              <a:rPr lang="en-US" sz="900" dirty="0">
                <a:solidFill>
                  <a:srgbClr val="1E3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数据流</a:t>
            </a:r>
            <a:endParaRPr lang="en-US" sz="900" dirty="0"/>
          </a:p>
        </p:txBody>
      </p:sp>
      <p:sp>
        <p:nvSpPr>
          <p:cNvPr id="19" name="!!rail-b3"/>
          <p:cNvSpPr/>
          <p:nvPr/>
        </p:nvSpPr>
        <p:spPr>
          <a:xfrm>
            <a:off x="6187288" y="6355080"/>
            <a:ext cx="1737360" cy="36576"/>
          </a:xfrm>
          <a:prstGeom prst="rect">
            <a:avLst/>
          </a:prstGeom>
          <a:solidFill>
            <a:srgbClr val="D3D8E0"/>
          </a:solidFill>
        </p:spPr>
      </p:sp>
      <p:sp>
        <p:nvSpPr>
          <p:cNvPr id="20" name="!!rail-l3"/>
          <p:cNvSpPr txBox="1"/>
          <p:nvPr/>
        </p:nvSpPr>
        <p:spPr>
          <a:xfrm>
            <a:off x="618728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A8AFB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  </a:t>
            </a:r>
            <a:r>
              <a:rPr lang="en-US" sz="900" dirty="0">
                <a:solidFill>
                  <a:srgbClr val="A8AFB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</a:t>
            </a:r>
            <a:endParaRPr lang="en-US" sz="900" dirty="0"/>
          </a:p>
        </p:txBody>
      </p:sp>
      <p:sp>
        <p:nvSpPr>
          <p:cNvPr id="21" name="!!rail-b4"/>
          <p:cNvSpPr/>
          <p:nvPr/>
        </p:nvSpPr>
        <p:spPr>
          <a:xfrm>
            <a:off x="8107528" y="6355080"/>
            <a:ext cx="1737360" cy="36576"/>
          </a:xfrm>
          <a:prstGeom prst="rect">
            <a:avLst/>
          </a:prstGeom>
          <a:solidFill>
            <a:srgbClr val="D3D8E0"/>
          </a:solidFill>
        </p:spPr>
      </p:sp>
      <p:sp>
        <p:nvSpPr>
          <p:cNvPr id="22" name="!!rail-l4"/>
          <p:cNvSpPr txBox="1"/>
          <p:nvPr/>
        </p:nvSpPr>
        <p:spPr>
          <a:xfrm>
            <a:off x="810752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A8AFB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  </a:t>
            </a:r>
            <a:r>
              <a:rPr lang="en-US" sz="900" dirty="0">
                <a:solidFill>
                  <a:srgbClr val="A8AFB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调优</a:t>
            </a:r>
            <a:endParaRPr lang="en-US" sz="900" dirty="0"/>
          </a:p>
        </p:txBody>
      </p:sp>
      <p:sp>
        <p:nvSpPr>
          <p:cNvPr id="23" name="!!pg"/>
          <p:cNvSpPr txBox="1"/>
          <p:nvPr/>
        </p:nvSpPr>
        <p:spPr>
          <a:xfrm>
            <a:off x="10728655" y="638251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08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hero" descr="/mnt/attach/project-files/ppt-storyboard/deck/img/vei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brand"/>
          <p:cNvSpPr txBox="1"/>
          <p:nvPr/>
        </p:nvSpPr>
        <p:spPr>
          <a:xfrm>
            <a:off x="548640" y="3474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LabInfer</a:t>
            </a:r>
            <a:endParaRPr lang="en-US" sz="12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777240"/>
            <a:ext cx="54864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LLM 输出迭代与调优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011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8F9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改写前 · 旧版真实输出 · git 8eb694c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31720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3A9B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基准 Na₂CO₃ 标定线性良好：滴定体积与称样量成过原点直线（R²=0.9998，n=3），三份平行平均 c̄(HCl)=0.1027 mol/L（过原点回归 0.1029）。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CD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同一条结论、同一组数字，只换了表达层。在线 LLM 走同一套表达标准和校验器，实测 9 条全部过校验、零丢弃。</a:t>
            </a:r>
            <a:endParaRPr lang="en-US" sz="1200" dirty="0"/>
          </a:p>
        </p:txBody>
      </p:sp>
      <p:sp>
        <p:nvSpPr>
          <p:cNvPr id="8" name="!!after"/>
          <p:cNvSpPr/>
          <p:nvPr/>
        </p:nvSpPr>
        <p:spPr>
          <a:xfrm>
            <a:off x="6400800" y="1828800"/>
            <a:ext cx="52120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</p:spPr>
      </p:sp>
      <p:sp>
        <p:nvSpPr>
          <p:cNvPr id="9" name="Text 6"/>
          <p:cNvSpPr txBox="1"/>
          <p:nvPr/>
        </p:nvSpPr>
        <p:spPr>
          <a:xfrm>
            <a:off x="6675120" y="2011680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E3B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改写后 · 当前真实输出 · git f5461c1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2377440"/>
            <a:ext cx="475488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标定的线性关系很好：每一份基准碳酸钠称得越多，滴定耗掉的盐酸就越多，三份整齐落在「称多少、耗多少」的直线上。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374904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报告口径：三份平均 c̄(HCl) = 0.1027 mol/L，过原点回归的斜率另算一遍是 0.1029，两种算法互相印证（R² = 0.9998，n = 3）。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50749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0A0B10">
              <a:alpha val="88000"/>
            </a:srgbClr>
          </a:solidFill>
        </p:spPr>
      </p:sp>
      <p:sp>
        <p:nvSpPr>
          <p:cNvPr id="13" name="Text 10"/>
          <p:cNvSpPr txBox="1"/>
          <p:nvPr/>
        </p:nvSpPr>
        <p:spPr>
          <a:xfrm>
            <a:off x="690880" y="5133975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 → 代码校验数字和证据 → 不通过回灌重写（上限 1 次）→ 仍失败</a:t>
            </a:r>
            <a:r>
              <a:rPr lang="zh-CN" alt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预留人工校正</a:t>
            </a:r>
            <a:r>
              <a:rPr 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兜底</a:t>
            </a:r>
            <a:endParaRPr lang="en-US" sz="1400" dirty="0"/>
          </a:p>
        </p:txBody>
      </p:sp>
      <p:sp>
        <p:nvSpPr>
          <p:cNvPr id="14" name="!!rail-b1"/>
          <p:cNvSpPr/>
          <p:nvPr/>
        </p:nvSpPr>
        <p:spPr>
          <a:xfrm>
            <a:off x="2346808" y="6355080"/>
            <a:ext cx="1737360" cy="36576"/>
          </a:xfrm>
          <a:prstGeom prst="rect">
            <a:avLst/>
          </a:prstGeom>
          <a:solidFill>
            <a:srgbClr val="8C9BFF"/>
          </a:solidFill>
        </p:spPr>
      </p:sp>
      <p:sp>
        <p:nvSpPr>
          <p:cNvPr id="15" name="!!rail-l1"/>
          <p:cNvSpPr txBox="1"/>
          <p:nvPr/>
        </p:nvSpPr>
        <p:spPr>
          <a:xfrm>
            <a:off x="234680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9D1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  </a:t>
            </a:r>
            <a:r>
              <a:rPr lang="en-US" sz="900" dirty="0">
                <a:solidFill>
                  <a:srgbClr val="C9D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</a:t>
            </a:r>
            <a:endParaRPr lang="en-US" sz="900" dirty="0"/>
          </a:p>
        </p:txBody>
      </p:sp>
      <p:sp>
        <p:nvSpPr>
          <p:cNvPr id="16" name="!!rail-b2"/>
          <p:cNvSpPr/>
          <p:nvPr/>
        </p:nvSpPr>
        <p:spPr>
          <a:xfrm>
            <a:off x="4267048" y="6355080"/>
            <a:ext cx="1737360" cy="36576"/>
          </a:xfrm>
          <a:prstGeom prst="rect">
            <a:avLst/>
          </a:prstGeom>
          <a:solidFill>
            <a:srgbClr val="1E3BFF"/>
          </a:solidFill>
        </p:spPr>
      </p:sp>
      <p:sp>
        <p:nvSpPr>
          <p:cNvPr id="17" name="!!rail-l2"/>
          <p:cNvSpPr txBox="1"/>
          <p:nvPr/>
        </p:nvSpPr>
        <p:spPr>
          <a:xfrm>
            <a:off x="426704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 </a:t>
            </a:r>
            <a:r>
              <a:rPr 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数据流</a:t>
            </a:r>
            <a:endParaRPr lang="en-US" sz="900" dirty="0"/>
          </a:p>
        </p:txBody>
      </p:sp>
      <p:sp>
        <p:nvSpPr>
          <p:cNvPr id="18" name="!!rail-b3"/>
          <p:cNvSpPr/>
          <p:nvPr/>
        </p:nvSpPr>
        <p:spPr>
          <a:xfrm>
            <a:off x="6187288" y="6355080"/>
            <a:ext cx="1737360" cy="365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!!rail-l3"/>
          <p:cNvSpPr txBox="1"/>
          <p:nvPr/>
        </p:nvSpPr>
        <p:spPr>
          <a:xfrm>
            <a:off x="618728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9D1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  </a:t>
            </a:r>
            <a:r>
              <a:rPr lang="en-US" sz="900" dirty="0">
                <a:solidFill>
                  <a:srgbClr val="C9D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</a:t>
            </a:r>
            <a:endParaRPr lang="en-US" sz="900" dirty="0"/>
          </a:p>
        </p:txBody>
      </p:sp>
      <p:sp>
        <p:nvSpPr>
          <p:cNvPr id="20" name="!!rail-b4"/>
          <p:cNvSpPr/>
          <p:nvPr/>
        </p:nvSpPr>
        <p:spPr>
          <a:xfrm>
            <a:off x="8107528" y="6355080"/>
            <a:ext cx="1737360" cy="365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!!rail-l4"/>
          <p:cNvSpPr txBox="1"/>
          <p:nvPr/>
        </p:nvSpPr>
        <p:spPr>
          <a:xfrm>
            <a:off x="810752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9D1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  </a:t>
            </a:r>
            <a:r>
              <a:rPr lang="en-US" sz="900" dirty="0">
                <a:solidFill>
                  <a:srgbClr val="C9D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调优</a:t>
            </a:r>
            <a:endParaRPr lang="en-US" sz="900" dirty="0"/>
          </a:p>
        </p:txBody>
      </p:sp>
      <p:sp>
        <p:nvSpPr>
          <p:cNvPr id="22" name="!!pg"/>
          <p:cNvSpPr txBox="1"/>
          <p:nvPr/>
        </p:nvSpPr>
        <p:spPr>
          <a:xfrm>
            <a:off x="10728655" y="638251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09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3474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0B1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LabInfer</a:t>
            </a:r>
            <a:endParaRPr lang="en-US" sz="1200" dirty="0"/>
          </a:p>
        </p:txBody>
      </p:sp>
      <p:sp>
        <p:nvSpPr>
          <p:cNvPr id="3" name="!!title"/>
          <p:cNvSpPr txBox="1"/>
          <p:nvPr/>
        </p:nvSpPr>
        <p:spPr>
          <a:xfrm>
            <a:off x="548640" y="777240"/>
            <a:ext cx="69494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自动识别论文和教材的图表，复现数据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" y="1901952"/>
            <a:ext cx="5669280" cy="4178808"/>
          </a:xfrm>
          <a:prstGeom prst="rect">
            <a:avLst/>
          </a:prstGeom>
          <a:solidFill>
            <a:srgbClr val="E4E8FF"/>
          </a:solidFill>
        </p:spPr>
      </p:sp>
      <p:pic>
        <p:nvPicPr>
          <p:cNvPr id="5" name="!!shotimg" descr="/mnt/attach/project-files/ppt-storyboard/deck/img/ui_m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669280" cy="41788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5669280" cy="4178808"/>
          </a:xfrm>
          <a:prstGeom prst="rect">
            <a:avLst/>
          </a:prstGeom>
          <a:ln w="9525">
            <a:solidFill>
              <a:srgbClr val="D3D8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4630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1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FIG.10 / M2 曲线取数 · 文献滴定曲线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1682496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3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173736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VLM 读出坐标轴刻度、轴类型和图例，只负责「读」。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2340864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3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7406640" y="2395728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OpenCV 按颜色找出数据点的像素位置。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858000" y="2999232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3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7406640" y="3054096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代码把像素换算成数据坐标，并报告校准残差。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0" y="3794760"/>
            <a:ext cx="4754880" cy="0"/>
          </a:xfrm>
          <a:prstGeom prst="line">
            <a:avLst/>
          </a:prstGeom>
          <a:noFill/>
          <a:ln w="9525">
            <a:solidFill>
              <a:srgbClr val="D3D8E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0" y="39319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自由插件拓展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427939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新增一个分析模型 = 一个子类 + 注册一行，路由与契约不变。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0" y="47091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AFB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406640" y="47091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0B1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linear_calibration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50109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AFB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406640" y="501091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0B1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arrhenius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0" y="5312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AFB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406640" y="5312664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0B1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titration_standardization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406640" y="561441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3B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+  新模型</a:t>
            </a:r>
            <a:endParaRPr lang="en-US" sz="1200" dirty="0"/>
          </a:p>
        </p:txBody>
      </p:sp>
      <p:sp>
        <p:nvSpPr>
          <p:cNvPr id="24" name="!!rail-b1"/>
          <p:cNvSpPr/>
          <p:nvPr/>
        </p:nvSpPr>
        <p:spPr>
          <a:xfrm>
            <a:off x="2346808" y="6355080"/>
            <a:ext cx="1737360" cy="36576"/>
          </a:xfrm>
          <a:prstGeom prst="rect">
            <a:avLst/>
          </a:prstGeom>
          <a:solidFill>
            <a:srgbClr val="A8AFBB"/>
          </a:solidFill>
        </p:spPr>
      </p:sp>
      <p:sp>
        <p:nvSpPr>
          <p:cNvPr id="25" name="!!rail-l1"/>
          <p:cNvSpPr txBox="1"/>
          <p:nvPr/>
        </p:nvSpPr>
        <p:spPr>
          <a:xfrm>
            <a:off x="234680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B71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  </a:t>
            </a:r>
            <a:r>
              <a:rPr lang="en-US" sz="900" dirty="0">
                <a:solidFill>
                  <a:srgbClr val="6B71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</a:t>
            </a:r>
            <a:endParaRPr lang="en-US" sz="900" dirty="0"/>
          </a:p>
        </p:txBody>
      </p:sp>
      <p:sp>
        <p:nvSpPr>
          <p:cNvPr id="26" name="!!rail-b2"/>
          <p:cNvSpPr/>
          <p:nvPr/>
        </p:nvSpPr>
        <p:spPr>
          <a:xfrm>
            <a:off x="4267048" y="6355080"/>
            <a:ext cx="1737360" cy="36576"/>
          </a:xfrm>
          <a:prstGeom prst="rect">
            <a:avLst/>
          </a:prstGeom>
          <a:solidFill>
            <a:srgbClr val="1E3BFF"/>
          </a:solidFill>
        </p:spPr>
      </p:sp>
      <p:sp>
        <p:nvSpPr>
          <p:cNvPr id="27" name="!!rail-l2"/>
          <p:cNvSpPr txBox="1"/>
          <p:nvPr/>
        </p:nvSpPr>
        <p:spPr>
          <a:xfrm>
            <a:off x="426704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3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 </a:t>
            </a:r>
            <a:r>
              <a:rPr lang="en-US" sz="900" dirty="0">
                <a:solidFill>
                  <a:srgbClr val="1E3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数据流</a:t>
            </a:r>
            <a:endParaRPr lang="en-US" sz="900" dirty="0"/>
          </a:p>
        </p:txBody>
      </p:sp>
      <p:sp>
        <p:nvSpPr>
          <p:cNvPr id="28" name="!!rail-b3"/>
          <p:cNvSpPr/>
          <p:nvPr/>
        </p:nvSpPr>
        <p:spPr>
          <a:xfrm>
            <a:off x="6187288" y="6355080"/>
            <a:ext cx="1737360" cy="36576"/>
          </a:xfrm>
          <a:prstGeom prst="rect">
            <a:avLst/>
          </a:prstGeom>
          <a:solidFill>
            <a:srgbClr val="D3D8E0"/>
          </a:solidFill>
        </p:spPr>
      </p:sp>
      <p:sp>
        <p:nvSpPr>
          <p:cNvPr id="29" name="!!rail-l3"/>
          <p:cNvSpPr txBox="1"/>
          <p:nvPr/>
        </p:nvSpPr>
        <p:spPr>
          <a:xfrm>
            <a:off x="618728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A8AFB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  </a:t>
            </a:r>
            <a:r>
              <a:rPr lang="en-US" sz="900" dirty="0">
                <a:solidFill>
                  <a:srgbClr val="A8AFB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</a:t>
            </a:r>
            <a:endParaRPr lang="en-US" sz="900" dirty="0"/>
          </a:p>
        </p:txBody>
      </p:sp>
      <p:sp>
        <p:nvSpPr>
          <p:cNvPr id="30" name="!!rail-b4"/>
          <p:cNvSpPr/>
          <p:nvPr/>
        </p:nvSpPr>
        <p:spPr>
          <a:xfrm>
            <a:off x="8107528" y="6355080"/>
            <a:ext cx="1737360" cy="36576"/>
          </a:xfrm>
          <a:prstGeom prst="rect">
            <a:avLst/>
          </a:prstGeom>
          <a:solidFill>
            <a:srgbClr val="D3D8E0"/>
          </a:solidFill>
        </p:spPr>
      </p:sp>
      <p:sp>
        <p:nvSpPr>
          <p:cNvPr id="31" name="!!rail-l4"/>
          <p:cNvSpPr txBox="1"/>
          <p:nvPr/>
        </p:nvSpPr>
        <p:spPr>
          <a:xfrm>
            <a:off x="810752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A8AFB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  </a:t>
            </a:r>
            <a:r>
              <a:rPr lang="en-US" sz="900" dirty="0">
                <a:solidFill>
                  <a:srgbClr val="A8AFB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调优</a:t>
            </a:r>
            <a:endParaRPr lang="en-US" sz="900" dirty="0"/>
          </a:p>
        </p:txBody>
      </p:sp>
      <p:sp>
        <p:nvSpPr>
          <p:cNvPr id="32" name="!!pg"/>
          <p:cNvSpPr txBox="1"/>
          <p:nvPr/>
        </p:nvSpPr>
        <p:spPr>
          <a:xfrm>
            <a:off x="10728655" y="638251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3474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0B1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LabInfer</a:t>
            </a:r>
            <a:endParaRPr lang="en-US" sz="1200" dirty="0"/>
          </a:p>
        </p:txBody>
      </p:sp>
      <p:sp>
        <p:nvSpPr>
          <p:cNvPr id="3" name="!!title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把化学实验定制成代码模型，输出可视化结果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1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 · 教材公式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A0B1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w(Na₂O) = c·V·M / 2m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0" cy="228600"/>
          </a:xfrm>
          <a:prstGeom prst="line">
            <a:avLst/>
          </a:prstGeom>
          <a:noFill/>
          <a:ln w="9525">
            <a:solidFill>
              <a:srgbClr val="A8AFB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7889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1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 · 模型 + 常数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摩尔质量、定容与移取体积写进模板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0" cy="228600"/>
          </a:xfrm>
          <a:prstGeom prst="line">
            <a:avLst/>
          </a:prstGeom>
          <a:noFill/>
          <a:ln w="9525">
            <a:solidFill>
              <a:srgbClr val="A8AFB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7033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E3B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 · 代码算出 w̄(Na₂O)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840480"/>
            <a:ext cx="12801600" cy="1397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8800" b="1" dirty="0">
                <a:solidFill>
                  <a:srgbClr val="1E3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60.63</a:t>
            </a:r>
            <a:endParaRPr lang="en-US" sz="8800" dirty="0"/>
          </a:p>
        </p:txBody>
      </p:sp>
      <p:sp>
        <p:nvSpPr>
          <p:cNvPr id="12" name="Text 10"/>
          <p:cNvSpPr txBox="1"/>
          <p:nvPr/>
        </p:nvSpPr>
        <p:spPr>
          <a:xfrm>
            <a:off x="3364992" y="41148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E3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%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34924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理论值 58.47%。相对平均偏差 </a:t>
            </a:r>
            <a:r>
              <a:rPr lang="en-US" sz="1200" b="1" dirty="0">
                <a:solidFill>
                  <a:srgbClr val="E524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1.31%</a:t>
            </a:r>
            <a:r>
              <a:rPr lang="en-US" sz="12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，限值 0.2%。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83480" y="1920240"/>
            <a:ext cx="6766560" cy="4297680"/>
          </a:xfrm>
          <a:prstGeom prst="rect">
            <a:avLst/>
          </a:prstGeom>
          <a:solidFill>
            <a:srgbClr val="E4E8FF"/>
          </a:solidFill>
        </p:spPr>
      </p:sp>
      <p:pic>
        <p:nvPicPr>
          <p:cNvPr id="15" name="!!shotimg" descr="/mnt/attach/project-files/ppt-storyboard/deck/img/ui_result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783080"/>
            <a:ext cx="6766560" cy="42976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846320" y="1783080"/>
            <a:ext cx="6766560" cy="4297680"/>
          </a:xfrm>
          <a:prstGeom prst="rect">
            <a:avLst/>
          </a:prstGeom>
          <a:ln w="9525">
            <a:solidFill>
              <a:srgbClr val="D3D8E0"/>
            </a:solidFill>
            <a:prstDash val="solid"/>
          </a:ln>
        </p:spPr>
      </p:sp>
      <p:sp>
        <p:nvSpPr>
          <p:cNvPr id="17" name="!!rail-b1"/>
          <p:cNvSpPr/>
          <p:nvPr/>
        </p:nvSpPr>
        <p:spPr>
          <a:xfrm>
            <a:off x="2346808" y="6355080"/>
            <a:ext cx="1737360" cy="36576"/>
          </a:xfrm>
          <a:prstGeom prst="rect">
            <a:avLst/>
          </a:prstGeom>
          <a:solidFill>
            <a:srgbClr val="A8AFBB"/>
          </a:solidFill>
        </p:spPr>
      </p:sp>
      <p:sp>
        <p:nvSpPr>
          <p:cNvPr id="18" name="!!rail-l1"/>
          <p:cNvSpPr txBox="1"/>
          <p:nvPr/>
        </p:nvSpPr>
        <p:spPr>
          <a:xfrm>
            <a:off x="234680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B71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  </a:t>
            </a:r>
            <a:r>
              <a:rPr lang="en-US" sz="900" dirty="0">
                <a:solidFill>
                  <a:srgbClr val="6B71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</a:t>
            </a:r>
            <a:endParaRPr lang="en-US" sz="900" dirty="0"/>
          </a:p>
        </p:txBody>
      </p:sp>
      <p:sp>
        <p:nvSpPr>
          <p:cNvPr id="19" name="!!rail-b2"/>
          <p:cNvSpPr/>
          <p:nvPr/>
        </p:nvSpPr>
        <p:spPr>
          <a:xfrm>
            <a:off x="4267048" y="6355080"/>
            <a:ext cx="1737360" cy="36576"/>
          </a:xfrm>
          <a:prstGeom prst="rect">
            <a:avLst/>
          </a:prstGeom>
          <a:solidFill>
            <a:srgbClr val="1E3BFF"/>
          </a:solidFill>
        </p:spPr>
      </p:sp>
      <p:sp>
        <p:nvSpPr>
          <p:cNvPr id="20" name="!!rail-l2"/>
          <p:cNvSpPr txBox="1"/>
          <p:nvPr/>
        </p:nvSpPr>
        <p:spPr>
          <a:xfrm>
            <a:off x="426704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3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 </a:t>
            </a:r>
            <a:r>
              <a:rPr lang="en-US" sz="900" dirty="0">
                <a:solidFill>
                  <a:srgbClr val="1E3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数据流</a:t>
            </a:r>
            <a:endParaRPr lang="en-US" sz="900" dirty="0"/>
          </a:p>
        </p:txBody>
      </p:sp>
      <p:sp>
        <p:nvSpPr>
          <p:cNvPr id="21" name="!!rail-b3"/>
          <p:cNvSpPr/>
          <p:nvPr/>
        </p:nvSpPr>
        <p:spPr>
          <a:xfrm>
            <a:off x="6187288" y="6355080"/>
            <a:ext cx="1737360" cy="36576"/>
          </a:xfrm>
          <a:prstGeom prst="rect">
            <a:avLst/>
          </a:prstGeom>
          <a:solidFill>
            <a:srgbClr val="D3D8E0"/>
          </a:solidFill>
        </p:spPr>
      </p:sp>
      <p:sp>
        <p:nvSpPr>
          <p:cNvPr id="22" name="!!rail-l3"/>
          <p:cNvSpPr txBox="1"/>
          <p:nvPr/>
        </p:nvSpPr>
        <p:spPr>
          <a:xfrm>
            <a:off x="618728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A8AFB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  </a:t>
            </a:r>
            <a:r>
              <a:rPr lang="en-US" sz="900" dirty="0">
                <a:solidFill>
                  <a:srgbClr val="A8AFB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</a:t>
            </a:r>
            <a:endParaRPr lang="en-US" sz="900" dirty="0"/>
          </a:p>
        </p:txBody>
      </p:sp>
      <p:sp>
        <p:nvSpPr>
          <p:cNvPr id="23" name="!!rail-b4"/>
          <p:cNvSpPr/>
          <p:nvPr/>
        </p:nvSpPr>
        <p:spPr>
          <a:xfrm>
            <a:off x="8107528" y="6355080"/>
            <a:ext cx="1737360" cy="36576"/>
          </a:xfrm>
          <a:prstGeom prst="rect">
            <a:avLst/>
          </a:prstGeom>
          <a:solidFill>
            <a:srgbClr val="D3D8E0"/>
          </a:solidFill>
        </p:spPr>
      </p:sp>
      <p:sp>
        <p:nvSpPr>
          <p:cNvPr id="24" name="!!rail-l4"/>
          <p:cNvSpPr txBox="1"/>
          <p:nvPr/>
        </p:nvSpPr>
        <p:spPr>
          <a:xfrm>
            <a:off x="810752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A8AFB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  </a:t>
            </a:r>
            <a:r>
              <a:rPr lang="en-US" sz="900" dirty="0">
                <a:solidFill>
                  <a:srgbClr val="A8AFB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调优</a:t>
            </a:r>
            <a:endParaRPr lang="en-US" sz="900" dirty="0"/>
          </a:p>
        </p:txBody>
      </p:sp>
      <p:sp>
        <p:nvSpPr>
          <p:cNvPr id="25" name="!!pg"/>
          <p:cNvSpPr txBox="1"/>
          <p:nvPr/>
        </p:nvSpPr>
        <p:spPr>
          <a:xfrm>
            <a:off x="10728655" y="638251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hero" descr="/mnt/attach/project-files/ppt-storyboard/deck/img/hal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brand"/>
          <p:cNvSpPr txBox="1"/>
          <p:nvPr/>
        </p:nvSpPr>
        <p:spPr>
          <a:xfrm>
            <a:off x="548640" y="3474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LabInfer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3992728" y="233172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解读 · 每条都标注了依据</a:t>
            </a:r>
            <a:endParaRPr lang="en-US" sz="1100" dirty="0"/>
          </a:p>
        </p:txBody>
      </p:sp>
      <p:sp>
        <p:nvSpPr>
          <p:cNvPr id="5" name="!!title"/>
          <p:cNvSpPr txBox="1"/>
          <p:nvPr/>
        </p:nvSpPr>
        <p:spPr>
          <a:xfrm>
            <a:off x="3992728" y="2697480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三份终点中，p2 偏离计量点最远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3992728" y="365760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ΔV −0.649 mL · pH 5.0 · 依据 titration_curve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3992728" y="402336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提示这一份的终点判断偏差最大</a:t>
            </a:r>
            <a:endParaRPr lang="en-US" sz="1300" dirty="0"/>
          </a:p>
        </p:txBody>
      </p:sp>
      <p:sp>
        <p:nvSpPr>
          <p:cNvPr id="8" name="!!rail-b1"/>
          <p:cNvSpPr/>
          <p:nvPr/>
        </p:nvSpPr>
        <p:spPr>
          <a:xfrm>
            <a:off x="2346808" y="6355080"/>
            <a:ext cx="1737360" cy="36576"/>
          </a:xfrm>
          <a:prstGeom prst="rect">
            <a:avLst/>
          </a:prstGeom>
          <a:solidFill>
            <a:srgbClr val="8C9BFF"/>
          </a:solidFill>
        </p:spPr>
      </p:sp>
      <p:sp>
        <p:nvSpPr>
          <p:cNvPr id="9" name="!!rail-l1"/>
          <p:cNvSpPr txBox="1"/>
          <p:nvPr/>
        </p:nvSpPr>
        <p:spPr>
          <a:xfrm>
            <a:off x="234680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9D1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  </a:t>
            </a:r>
            <a:r>
              <a:rPr lang="en-US" sz="900" dirty="0">
                <a:solidFill>
                  <a:srgbClr val="C9D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</a:t>
            </a:r>
            <a:endParaRPr lang="en-US" sz="900" dirty="0"/>
          </a:p>
        </p:txBody>
      </p:sp>
      <p:sp>
        <p:nvSpPr>
          <p:cNvPr id="10" name="!!rail-b2"/>
          <p:cNvSpPr/>
          <p:nvPr/>
        </p:nvSpPr>
        <p:spPr>
          <a:xfrm>
            <a:off x="4267048" y="6355080"/>
            <a:ext cx="1737360" cy="36576"/>
          </a:xfrm>
          <a:prstGeom prst="rect">
            <a:avLst/>
          </a:prstGeom>
          <a:solidFill>
            <a:srgbClr val="1E3BFF"/>
          </a:solidFill>
        </p:spPr>
      </p:sp>
      <p:sp>
        <p:nvSpPr>
          <p:cNvPr id="11" name="!!rail-l2"/>
          <p:cNvSpPr txBox="1"/>
          <p:nvPr/>
        </p:nvSpPr>
        <p:spPr>
          <a:xfrm>
            <a:off x="426704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 </a:t>
            </a:r>
            <a:r>
              <a:rPr 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数据流</a:t>
            </a:r>
            <a:endParaRPr lang="en-US" sz="900" dirty="0"/>
          </a:p>
        </p:txBody>
      </p:sp>
      <p:sp>
        <p:nvSpPr>
          <p:cNvPr id="12" name="!!rail-b3"/>
          <p:cNvSpPr/>
          <p:nvPr/>
        </p:nvSpPr>
        <p:spPr>
          <a:xfrm>
            <a:off x="6187288" y="6355080"/>
            <a:ext cx="1737360" cy="365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!!rail-l3"/>
          <p:cNvSpPr txBox="1"/>
          <p:nvPr/>
        </p:nvSpPr>
        <p:spPr>
          <a:xfrm>
            <a:off x="618728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9D1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  </a:t>
            </a:r>
            <a:r>
              <a:rPr lang="en-US" sz="900" dirty="0">
                <a:solidFill>
                  <a:srgbClr val="C9D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</a:t>
            </a:r>
            <a:endParaRPr lang="en-US" sz="900" dirty="0"/>
          </a:p>
        </p:txBody>
      </p:sp>
      <p:sp>
        <p:nvSpPr>
          <p:cNvPr id="14" name="!!rail-b4"/>
          <p:cNvSpPr/>
          <p:nvPr/>
        </p:nvSpPr>
        <p:spPr>
          <a:xfrm>
            <a:off x="8107528" y="6355080"/>
            <a:ext cx="1737360" cy="365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!!rail-l4"/>
          <p:cNvSpPr txBox="1"/>
          <p:nvPr/>
        </p:nvSpPr>
        <p:spPr>
          <a:xfrm>
            <a:off x="810752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9D1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  </a:t>
            </a:r>
            <a:r>
              <a:rPr lang="en-US" sz="900" dirty="0">
                <a:solidFill>
                  <a:srgbClr val="C9D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调优</a:t>
            </a:r>
            <a:endParaRPr lang="en-US" sz="900" dirty="0"/>
          </a:p>
        </p:txBody>
      </p:sp>
      <p:sp>
        <p:nvSpPr>
          <p:cNvPr id="16" name="!!pg"/>
          <p:cNvSpPr txBox="1"/>
          <p:nvPr/>
        </p:nvSpPr>
        <p:spPr>
          <a:xfrm>
            <a:off x="10728655" y="638251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3474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0B1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LabInfer</a:t>
            </a:r>
            <a:endParaRPr lang="en-US" sz="1200" dirty="0"/>
          </a:p>
        </p:txBody>
      </p:sp>
      <p:pic>
        <p:nvPicPr>
          <p:cNvPr id="3" name="!!panel" descr="/mnt/attach/project-files/ppt-storyboard/deck/img/stool_pane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1055" y="0"/>
            <a:ext cx="5120640" cy="6080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7772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 教学</a:t>
            </a:r>
            <a:endParaRPr lang="en-US" sz="1300" dirty="0"/>
          </a:p>
        </p:txBody>
      </p:sp>
      <p:sp>
        <p:nvSpPr>
          <p:cNvPr id="5" name="!!title"/>
          <p:cNvSpPr txBox="1"/>
          <p:nvPr/>
        </p:nvSpPr>
        <p:spPr>
          <a:xfrm>
            <a:off x="548640" y="1143000"/>
            <a:ext cx="63093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 AI 分析，</a:t>
            </a:r>
            <a:r>
              <a:rPr lang="zh-CN" altLang="en-US" sz="26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同时满足学生</a:t>
            </a:r>
            <a:r>
              <a:rPr lang="en-US" sz="26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两套需求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828800"/>
            <a:ext cx="12801600" cy="20637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3000" b="1" dirty="0">
                <a:solidFill>
                  <a:srgbClr val="E4E8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30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3794760"/>
            <a:ext cx="12801600" cy="20637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3000" b="1" dirty="0">
                <a:solidFill>
                  <a:srgbClr val="EEF0F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30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14884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3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第一遍：我的结果怎么样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51460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1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判定句：纯中文短句，不带符号、数字和括号。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2880360"/>
            <a:ext cx="53035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标定的线性关系很好：每一份基准碳酸钠称得越多，滴定耗掉的盐酸就越多。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600200" y="3840480"/>
            <a:ext cx="5257800" cy="0"/>
          </a:xfrm>
          <a:prstGeom prst="line">
            <a:avLst/>
          </a:prstGeom>
          <a:noFill/>
          <a:ln w="9525">
            <a:solidFill>
              <a:srgbClr val="D3D8E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600200" y="411480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第二遍：报告里怎么写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600200" y="448056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1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报告口径：数字、单位和符号从第二句起写，判定必须和数据一致。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600200" y="4846320"/>
            <a:ext cx="53035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三份平均 c̄(HCl) = 0.1027 mol/L，过原点回归的斜率是 0.1029，R² = 0.9998，n = 3。</a:t>
            </a:r>
            <a:endParaRPr lang="en-US" sz="1400" dirty="0"/>
          </a:p>
        </p:txBody>
      </p:sp>
      <p:sp>
        <p:nvSpPr>
          <p:cNvPr id="15" name="!!rail-b1"/>
          <p:cNvSpPr/>
          <p:nvPr/>
        </p:nvSpPr>
        <p:spPr>
          <a:xfrm>
            <a:off x="2346808" y="6355080"/>
            <a:ext cx="1737360" cy="36576"/>
          </a:xfrm>
          <a:prstGeom prst="rect">
            <a:avLst/>
          </a:prstGeom>
          <a:solidFill>
            <a:srgbClr val="A8AFBB"/>
          </a:solidFill>
        </p:spPr>
      </p:sp>
      <p:sp>
        <p:nvSpPr>
          <p:cNvPr id="16" name="!!rail-l1"/>
          <p:cNvSpPr txBox="1"/>
          <p:nvPr/>
        </p:nvSpPr>
        <p:spPr>
          <a:xfrm>
            <a:off x="234680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B71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  </a:t>
            </a:r>
            <a:r>
              <a:rPr lang="en-US" sz="900" dirty="0">
                <a:solidFill>
                  <a:srgbClr val="6B71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</a:t>
            </a:r>
            <a:endParaRPr lang="en-US" sz="900" dirty="0"/>
          </a:p>
        </p:txBody>
      </p:sp>
      <p:sp>
        <p:nvSpPr>
          <p:cNvPr id="17" name="!!rail-b2"/>
          <p:cNvSpPr/>
          <p:nvPr/>
        </p:nvSpPr>
        <p:spPr>
          <a:xfrm>
            <a:off x="4267048" y="6355080"/>
            <a:ext cx="1737360" cy="36576"/>
          </a:xfrm>
          <a:prstGeom prst="rect">
            <a:avLst/>
          </a:prstGeom>
          <a:solidFill>
            <a:srgbClr val="A8AFBB"/>
          </a:solidFill>
        </p:spPr>
      </p:sp>
      <p:sp>
        <p:nvSpPr>
          <p:cNvPr id="18" name="!!rail-l2"/>
          <p:cNvSpPr txBox="1"/>
          <p:nvPr/>
        </p:nvSpPr>
        <p:spPr>
          <a:xfrm>
            <a:off x="426704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B71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 </a:t>
            </a:r>
            <a:r>
              <a:rPr lang="en-US" sz="900" dirty="0">
                <a:solidFill>
                  <a:srgbClr val="6B71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数据流</a:t>
            </a:r>
            <a:endParaRPr lang="en-US" sz="900" dirty="0"/>
          </a:p>
        </p:txBody>
      </p:sp>
      <p:sp>
        <p:nvSpPr>
          <p:cNvPr id="19" name="!!rail-b3"/>
          <p:cNvSpPr/>
          <p:nvPr/>
        </p:nvSpPr>
        <p:spPr>
          <a:xfrm>
            <a:off x="6187288" y="6355080"/>
            <a:ext cx="1737360" cy="36576"/>
          </a:xfrm>
          <a:prstGeom prst="rect">
            <a:avLst/>
          </a:prstGeom>
          <a:solidFill>
            <a:srgbClr val="1E3BFF"/>
          </a:solidFill>
        </p:spPr>
      </p:sp>
      <p:sp>
        <p:nvSpPr>
          <p:cNvPr id="20" name="!!rail-l3"/>
          <p:cNvSpPr txBox="1"/>
          <p:nvPr/>
        </p:nvSpPr>
        <p:spPr>
          <a:xfrm>
            <a:off x="618728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3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  </a:t>
            </a:r>
            <a:r>
              <a:rPr lang="en-US" sz="900" dirty="0">
                <a:solidFill>
                  <a:srgbClr val="1E3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</a:t>
            </a:r>
            <a:endParaRPr lang="en-US" sz="900" dirty="0"/>
          </a:p>
        </p:txBody>
      </p:sp>
      <p:sp>
        <p:nvSpPr>
          <p:cNvPr id="21" name="!!rail-b4"/>
          <p:cNvSpPr/>
          <p:nvPr/>
        </p:nvSpPr>
        <p:spPr>
          <a:xfrm>
            <a:off x="8107528" y="6355080"/>
            <a:ext cx="1737360" cy="36576"/>
          </a:xfrm>
          <a:prstGeom prst="rect">
            <a:avLst/>
          </a:prstGeom>
          <a:solidFill>
            <a:srgbClr val="D3D8E0"/>
          </a:solidFill>
        </p:spPr>
      </p:sp>
      <p:sp>
        <p:nvSpPr>
          <p:cNvPr id="22" name="!!rail-l4"/>
          <p:cNvSpPr txBox="1"/>
          <p:nvPr/>
        </p:nvSpPr>
        <p:spPr>
          <a:xfrm>
            <a:off x="810752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A8AFB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  </a:t>
            </a:r>
            <a:r>
              <a:rPr lang="en-US" sz="900" dirty="0">
                <a:solidFill>
                  <a:srgbClr val="A8AFB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调优</a:t>
            </a:r>
            <a:endParaRPr lang="en-US" sz="900" dirty="0"/>
          </a:p>
        </p:txBody>
      </p:sp>
      <p:sp>
        <p:nvSpPr>
          <p:cNvPr id="23" name="!!pg"/>
          <p:cNvSpPr txBox="1"/>
          <p:nvPr/>
        </p:nvSpPr>
        <p:spPr>
          <a:xfrm>
            <a:off x="10728655" y="638251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3474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0B1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LabInfer</a:t>
            </a:r>
            <a:endParaRPr lang="en-US" sz="1200" dirty="0"/>
          </a:p>
        </p:txBody>
      </p:sp>
      <p:sp>
        <p:nvSpPr>
          <p:cNvPr id="3" name="!!title"/>
          <p:cNvSpPr txBox="1"/>
          <p:nvPr/>
        </p:nvSpPr>
        <p:spPr>
          <a:xfrm>
            <a:off x="548640" y="777240"/>
            <a:ext cx="69494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破解层层概念：讲解阶梯和术语卡片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1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FIG.14 / 讲解阶梯 · 结论可以往下展开到更基础的一级</a:t>
            </a:r>
            <a:endParaRPr lang="en-US" sz="900" dirty="0"/>
          </a:p>
        </p:txBody>
      </p:sp>
      <p:pic>
        <p:nvPicPr>
          <p:cNvPr id="5" name="!!shotimg" descr="/mnt/attach/project-files/ppt-storyboard/deck/img/ui_ladd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19910"/>
            <a:ext cx="5029200" cy="37124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5029200" cy="3712464"/>
          </a:xfrm>
          <a:prstGeom prst="rect">
            <a:avLst/>
          </a:prstGeom>
          <a:ln w="9525">
            <a:solidFill>
              <a:srgbClr val="D3D8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40680" y="2377440"/>
            <a:ext cx="4480560" cy="3035808"/>
          </a:xfrm>
          <a:prstGeom prst="rect">
            <a:avLst/>
          </a:prstGeom>
          <a:solidFill>
            <a:srgbClr val="FFFFFF"/>
          </a:solidFill>
          <a:effectLst>
            <a:outerShdw blurRad="127000" dist="50800" dir="5400000" algn="bl" rotWithShape="0">
              <a:srgbClr val="1A2266">
                <a:alpha val="22000"/>
              </a:srgbClr>
            </a:outerShdw>
          </a:effectLst>
        </p:spPr>
      </p:sp>
      <p:pic>
        <p:nvPicPr>
          <p:cNvPr id="8" name="!!termimg" descr="/mnt/attach/project-files/ppt-storyboard/deck/img/ui_te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377440"/>
            <a:ext cx="4480560" cy="30358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40680" y="553212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学生在第 3 级：每条结论先在这一级讲清，再往上递一到两级。术语首次出现挂卡片，只用常用词，出处写到实验号。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0332720" y="1737360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E3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10332720" y="230428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1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张术语卡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10332720" y="2761488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A0B1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10332720" y="332841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1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节导读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0332720" y="3785616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A0B1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</a:t>
            </a:r>
            <a:endParaRPr lang="en-US" sz="3600" dirty="0"/>
          </a:p>
        </p:txBody>
      </p:sp>
      <p:sp>
        <p:nvSpPr>
          <p:cNvPr id="15" name="Text 11"/>
          <p:cNvSpPr txBox="1"/>
          <p:nvPr/>
        </p:nvSpPr>
        <p:spPr>
          <a:xfrm>
            <a:off x="10332720" y="435254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1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条字段人话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10332720" y="4809744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0A0B1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</a:t>
            </a:r>
            <a:endParaRPr lang="en-US" sz="3600" dirty="0"/>
          </a:p>
        </p:txBody>
      </p:sp>
      <p:sp>
        <p:nvSpPr>
          <p:cNvPr id="17" name="Text 13"/>
          <p:cNvSpPr txBox="1"/>
          <p:nvPr/>
        </p:nvSpPr>
        <p:spPr>
          <a:xfrm>
            <a:off x="10332720" y="53766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1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条出处登记</a:t>
            </a:r>
            <a:endParaRPr lang="en-US" sz="1100" dirty="0"/>
          </a:p>
        </p:txBody>
      </p:sp>
      <p:sp>
        <p:nvSpPr>
          <p:cNvPr id="18" name="!!rail-b1"/>
          <p:cNvSpPr/>
          <p:nvPr/>
        </p:nvSpPr>
        <p:spPr>
          <a:xfrm>
            <a:off x="2346808" y="6355080"/>
            <a:ext cx="1737360" cy="36576"/>
          </a:xfrm>
          <a:prstGeom prst="rect">
            <a:avLst/>
          </a:prstGeom>
          <a:solidFill>
            <a:srgbClr val="A8AFBB"/>
          </a:solidFill>
        </p:spPr>
      </p:sp>
      <p:sp>
        <p:nvSpPr>
          <p:cNvPr id="19" name="!!rail-l1"/>
          <p:cNvSpPr txBox="1"/>
          <p:nvPr/>
        </p:nvSpPr>
        <p:spPr>
          <a:xfrm>
            <a:off x="234680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B71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  </a:t>
            </a:r>
            <a:r>
              <a:rPr lang="en-US" sz="900" dirty="0">
                <a:solidFill>
                  <a:srgbClr val="6B71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</a:t>
            </a:r>
            <a:endParaRPr lang="en-US" sz="900" dirty="0"/>
          </a:p>
        </p:txBody>
      </p:sp>
      <p:sp>
        <p:nvSpPr>
          <p:cNvPr id="20" name="!!rail-b2"/>
          <p:cNvSpPr/>
          <p:nvPr/>
        </p:nvSpPr>
        <p:spPr>
          <a:xfrm>
            <a:off x="4267048" y="6355080"/>
            <a:ext cx="1737360" cy="36576"/>
          </a:xfrm>
          <a:prstGeom prst="rect">
            <a:avLst/>
          </a:prstGeom>
          <a:solidFill>
            <a:srgbClr val="A8AFBB"/>
          </a:solidFill>
        </p:spPr>
      </p:sp>
      <p:sp>
        <p:nvSpPr>
          <p:cNvPr id="21" name="!!rail-l2"/>
          <p:cNvSpPr txBox="1"/>
          <p:nvPr/>
        </p:nvSpPr>
        <p:spPr>
          <a:xfrm>
            <a:off x="426704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B71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 </a:t>
            </a:r>
            <a:r>
              <a:rPr lang="en-US" sz="900" dirty="0">
                <a:solidFill>
                  <a:srgbClr val="6B71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数据流</a:t>
            </a:r>
            <a:endParaRPr lang="en-US" sz="900" dirty="0"/>
          </a:p>
        </p:txBody>
      </p:sp>
      <p:sp>
        <p:nvSpPr>
          <p:cNvPr id="22" name="!!rail-b3"/>
          <p:cNvSpPr/>
          <p:nvPr/>
        </p:nvSpPr>
        <p:spPr>
          <a:xfrm>
            <a:off x="6187288" y="6355080"/>
            <a:ext cx="1737360" cy="36576"/>
          </a:xfrm>
          <a:prstGeom prst="rect">
            <a:avLst/>
          </a:prstGeom>
          <a:solidFill>
            <a:srgbClr val="1E3BFF"/>
          </a:solidFill>
        </p:spPr>
      </p:sp>
      <p:sp>
        <p:nvSpPr>
          <p:cNvPr id="23" name="!!rail-l3"/>
          <p:cNvSpPr txBox="1"/>
          <p:nvPr/>
        </p:nvSpPr>
        <p:spPr>
          <a:xfrm>
            <a:off x="618728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3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  </a:t>
            </a:r>
            <a:r>
              <a:rPr lang="en-US" sz="900" dirty="0">
                <a:solidFill>
                  <a:srgbClr val="1E3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</a:t>
            </a:r>
            <a:endParaRPr lang="en-US" sz="900" dirty="0"/>
          </a:p>
        </p:txBody>
      </p:sp>
      <p:sp>
        <p:nvSpPr>
          <p:cNvPr id="24" name="!!rail-b4"/>
          <p:cNvSpPr/>
          <p:nvPr/>
        </p:nvSpPr>
        <p:spPr>
          <a:xfrm>
            <a:off x="8107528" y="6355080"/>
            <a:ext cx="1737360" cy="36576"/>
          </a:xfrm>
          <a:prstGeom prst="rect">
            <a:avLst/>
          </a:prstGeom>
          <a:solidFill>
            <a:srgbClr val="D3D8E0"/>
          </a:solidFill>
        </p:spPr>
      </p:sp>
      <p:sp>
        <p:nvSpPr>
          <p:cNvPr id="25" name="!!rail-l4"/>
          <p:cNvSpPr txBox="1"/>
          <p:nvPr/>
        </p:nvSpPr>
        <p:spPr>
          <a:xfrm>
            <a:off x="810752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A8AFB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  </a:t>
            </a:r>
            <a:r>
              <a:rPr lang="en-US" sz="900" dirty="0">
                <a:solidFill>
                  <a:srgbClr val="A8AFB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调优</a:t>
            </a:r>
            <a:endParaRPr lang="en-US" sz="900" dirty="0"/>
          </a:p>
        </p:txBody>
      </p:sp>
      <p:sp>
        <p:nvSpPr>
          <p:cNvPr id="26" name="!!pg"/>
          <p:cNvSpPr txBox="1"/>
          <p:nvPr/>
        </p:nvSpPr>
        <p:spPr>
          <a:xfrm>
            <a:off x="10728655" y="638251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3474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0B1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LabInfer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 调优</a:t>
            </a:r>
            <a:endParaRPr lang="en-US" sz="1300" dirty="0"/>
          </a:p>
        </p:txBody>
      </p:sp>
      <p:sp>
        <p:nvSpPr>
          <p:cNvPr id="4" name="!!title"/>
          <p:cNvSpPr txBox="1"/>
          <p:nvPr/>
        </p:nvSpPr>
        <p:spPr>
          <a:xfrm>
            <a:off x="548640" y="1143000"/>
            <a:ext cx="77724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下次怎么改：从做实验，到</a:t>
            </a:r>
            <a:r>
              <a:rPr lang="zh-CN" altLang="en-US" sz="26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</a:t>
            </a:r>
            <a:r>
              <a:rPr lang="en-US" sz="26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1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仪器误差预算 0.15% · 天平与滴定管误差按方和根合成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359152"/>
            <a:ext cx="777766" cy="274320"/>
          </a:xfrm>
          <a:prstGeom prst="rect">
            <a:avLst/>
          </a:prstGeom>
          <a:solidFill>
            <a:srgbClr val="A8AFBB"/>
          </a:solidFill>
        </p:spPr>
      </p:sp>
      <p:sp>
        <p:nvSpPr>
          <p:cNvPr id="7" name="Text 5"/>
          <p:cNvSpPr txBox="1"/>
          <p:nvPr/>
        </p:nvSpPr>
        <p:spPr>
          <a:xfrm>
            <a:off x="548640" y="283464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A0B1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实测相对平均偏差 1.31% · 三份标定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3090672"/>
            <a:ext cx="6766560" cy="274320"/>
          </a:xfrm>
          <a:prstGeom prst="rect">
            <a:avLst/>
          </a:prstGeom>
          <a:solidFill>
            <a:srgbClr val="E5242B"/>
          </a:solidFill>
        </p:spPr>
      </p:sp>
      <p:sp>
        <p:nvSpPr>
          <p:cNvPr id="9" name="Shape 7"/>
          <p:cNvSpPr/>
          <p:nvPr/>
        </p:nvSpPr>
        <p:spPr>
          <a:xfrm>
            <a:off x="1326406" y="2286000"/>
            <a:ext cx="0" cy="1188720"/>
          </a:xfrm>
          <a:prstGeom prst="line">
            <a:avLst/>
          </a:prstGeom>
          <a:noFill/>
          <a:ln w="9525">
            <a:solidFill>
              <a:srgbClr val="6B7180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7680960" y="1600200"/>
            <a:ext cx="12801600" cy="17462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1000" b="1" dirty="0">
                <a:solidFill>
                  <a:srgbClr val="1E3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8.7×</a:t>
            </a:r>
            <a:endParaRPr lang="en-US" sz="11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6118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散得这么开，已经不能用称量与读数误差解释   排除器具问题</a:t>
            </a:r>
            <a:r>
              <a:rPr lang="zh-CN" altLang="en-US" sz="15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</a:t>
            </a:r>
            <a:r>
              <a:rPr lang="en-US" sz="15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操作，比如各份终点颜色判断不一致。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1064240" cy="0"/>
          </a:xfrm>
          <a:prstGeom prst="line">
            <a:avLst/>
          </a:prstGeom>
          <a:noFill/>
          <a:ln w="9525">
            <a:solidFill>
              <a:srgbClr val="D3D8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5262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1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773168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误差分型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212080"/>
            <a:ext cx="26060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超出预算、单份偏离、质控未过，分开归因，不混成一句「误差较大」。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45262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1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4773168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预算对账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5212080"/>
            <a:ext cx="26060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1.31% 对 0.15%，差 8.7 倍。器具</a:t>
            </a:r>
            <a:r>
              <a:rPr lang="zh-CN" altLang="en-US" sz="125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所致误差</a:t>
            </a:r>
            <a:r>
              <a:rPr lang="en-US" sz="125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撑不起这么大的散布。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45262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1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4773168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A0B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锁定单变量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5212080"/>
            <a:ext cx="26060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三份终点里 p2 偏得最远（ΔV −0.649 mL）。下次只改停手时机这一个变量。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45262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E3B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9052560" y="4773168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3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带参数推演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9052560" y="5212080"/>
            <a:ext cx="26060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D42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p3 终点收回 0.516 mL，看散布收窄多少；煮沸赶 CO₂，看突跃变陡。先在模型里试，再回实验室。</a:t>
            </a:r>
            <a:endParaRPr lang="en-US" sz="1250" dirty="0"/>
          </a:p>
        </p:txBody>
      </p:sp>
      <p:sp>
        <p:nvSpPr>
          <p:cNvPr id="25" name="!!rail-b1"/>
          <p:cNvSpPr/>
          <p:nvPr/>
        </p:nvSpPr>
        <p:spPr>
          <a:xfrm>
            <a:off x="2346808" y="6355080"/>
            <a:ext cx="1737360" cy="36576"/>
          </a:xfrm>
          <a:prstGeom prst="rect">
            <a:avLst/>
          </a:prstGeom>
          <a:solidFill>
            <a:srgbClr val="A8AFBB"/>
          </a:solidFill>
        </p:spPr>
      </p:sp>
      <p:sp>
        <p:nvSpPr>
          <p:cNvPr id="26" name="!!rail-l1"/>
          <p:cNvSpPr txBox="1"/>
          <p:nvPr/>
        </p:nvSpPr>
        <p:spPr>
          <a:xfrm>
            <a:off x="234680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B71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  </a:t>
            </a:r>
            <a:r>
              <a:rPr lang="en-US" sz="900" dirty="0">
                <a:solidFill>
                  <a:srgbClr val="6B71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</a:t>
            </a:r>
            <a:endParaRPr lang="en-US" sz="900" dirty="0"/>
          </a:p>
        </p:txBody>
      </p:sp>
      <p:sp>
        <p:nvSpPr>
          <p:cNvPr id="27" name="!!rail-b2"/>
          <p:cNvSpPr/>
          <p:nvPr/>
        </p:nvSpPr>
        <p:spPr>
          <a:xfrm>
            <a:off x="4267048" y="6355080"/>
            <a:ext cx="1737360" cy="36576"/>
          </a:xfrm>
          <a:prstGeom prst="rect">
            <a:avLst/>
          </a:prstGeom>
          <a:solidFill>
            <a:srgbClr val="A8AFBB"/>
          </a:solidFill>
        </p:spPr>
      </p:sp>
      <p:sp>
        <p:nvSpPr>
          <p:cNvPr id="28" name="!!rail-l2"/>
          <p:cNvSpPr txBox="1"/>
          <p:nvPr/>
        </p:nvSpPr>
        <p:spPr>
          <a:xfrm>
            <a:off x="426704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B71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 </a:t>
            </a:r>
            <a:r>
              <a:rPr lang="en-US" sz="900" dirty="0">
                <a:solidFill>
                  <a:srgbClr val="6B71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数据流</a:t>
            </a:r>
            <a:endParaRPr lang="en-US" sz="900" dirty="0"/>
          </a:p>
        </p:txBody>
      </p:sp>
      <p:sp>
        <p:nvSpPr>
          <p:cNvPr id="29" name="!!rail-b3"/>
          <p:cNvSpPr/>
          <p:nvPr/>
        </p:nvSpPr>
        <p:spPr>
          <a:xfrm>
            <a:off x="6187288" y="6355080"/>
            <a:ext cx="1737360" cy="36576"/>
          </a:xfrm>
          <a:prstGeom prst="rect">
            <a:avLst/>
          </a:prstGeom>
          <a:solidFill>
            <a:srgbClr val="A8AFBB"/>
          </a:solidFill>
        </p:spPr>
      </p:sp>
      <p:sp>
        <p:nvSpPr>
          <p:cNvPr id="30" name="!!rail-l3"/>
          <p:cNvSpPr txBox="1"/>
          <p:nvPr/>
        </p:nvSpPr>
        <p:spPr>
          <a:xfrm>
            <a:off x="618728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B71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  </a:t>
            </a:r>
            <a:r>
              <a:rPr lang="en-US" sz="900" dirty="0">
                <a:solidFill>
                  <a:srgbClr val="6B71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</a:t>
            </a:r>
            <a:endParaRPr lang="en-US" sz="900" dirty="0"/>
          </a:p>
        </p:txBody>
      </p:sp>
      <p:sp>
        <p:nvSpPr>
          <p:cNvPr id="31" name="!!rail-b4"/>
          <p:cNvSpPr/>
          <p:nvPr/>
        </p:nvSpPr>
        <p:spPr>
          <a:xfrm>
            <a:off x="8107528" y="6355080"/>
            <a:ext cx="1737360" cy="36576"/>
          </a:xfrm>
          <a:prstGeom prst="rect">
            <a:avLst/>
          </a:prstGeom>
          <a:solidFill>
            <a:srgbClr val="1E3BFF"/>
          </a:solidFill>
        </p:spPr>
      </p:sp>
      <p:sp>
        <p:nvSpPr>
          <p:cNvPr id="32" name="!!rail-l4"/>
          <p:cNvSpPr txBox="1"/>
          <p:nvPr/>
        </p:nvSpPr>
        <p:spPr>
          <a:xfrm>
            <a:off x="8107528" y="6437376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3B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  </a:t>
            </a:r>
            <a:r>
              <a:rPr lang="en-US" sz="900" dirty="0">
                <a:solidFill>
                  <a:srgbClr val="1E3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调优</a:t>
            </a:r>
            <a:endParaRPr lang="en-US" sz="900" dirty="0"/>
          </a:p>
        </p:txBody>
      </p:sp>
      <p:sp>
        <p:nvSpPr>
          <p:cNvPr id="33" name="!!pg"/>
          <p:cNvSpPr txBox="1"/>
          <p:nvPr/>
        </p:nvSpPr>
        <p:spPr>
          <a:xfrm>
            <a:off x="10728655" y="638251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hero" descr="/mnt/attach/project-files/ppt-storyboard/deck/img/water_clos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brand"/>
          <p:cNvSpPr txBox="1"/>
          <p:nvPr/>
        </p:nvSpPr>
        <p:spPr>
          <a:xfrm>
            <a:off x="731520" y="118872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LabInfer</a:t>
            </a:r>
            <a:endParaRPr lang="en-US" sz="5400" dirty="0"/>
          </a:p>
        </p:txBody>
      </p:sp>
      <p:sp>
        <p:nvSpPr>
          <p:cNvPr id="4" name="Text 1"/>
          <p:cNvSpPr txBox="1"/>
          <p:nvPr>
            <p:custDataLst>
              <p:tags r:id="rId2"/>
            </p:custDataLst>
          </p:nvPr>
        </p:nvSpPr>
        <p:spPr>
          <a:xfrm>
            <a:off x="777240" y="233172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算得对</a:t>
            </a:r>
            <a:endParaRPr lang="en-US" sz="2200" dirty="0"/>
          </a:p>
        </p:txBody>
      </p:sp>
      <p:sp>
        <p:nvSpPr>
          <p:cNvPr id="5" name="Text 2"/>
          <p:cNvSpPr txBox="1"/>
          <p:nvPr>
            <p:custDataLst>
              <p:tags r:id="rId3"/>
            </p:custDataLst>
          </p:nvPr>
        </p:nvSpPr>
        <p:spPr>
          <a:xfrm>
            <a:off x="2286000" y="237744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DDE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计算全部交给代码</a:t>
            </a:r>
            <a:endParaRPr lang="en-US" sz="1800" dirty="0"/>
          </a:p>
        </p:txBody>
      </p:sp>
      <p:sp>
        <p:nvSpPr>
          <p:cNvPr id="6" name="Text 3"/>
          <p:cNvSpPr txBox="1"/>
          <p:nvPr>
            <p:custDataLst>
              <p:tags r:id="rId4"/>
            </p:custDataLst>
          </p:nvPr>
        </p:nvSpPr>
        <p:spPr>
          <a:xfrm>
            <a:off x="777240" y="301752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说得清</a:t>
            </a:r>
            <a:endParaRPr lang="en-US" sz="2200" dirty="0"/>
          </a:p>
        </p:txBody>
      </p:sp>
      <p:sp>
        <p:nvSpPr>
          <p:cNvPr id="7" name="Text 4"/>
          <p:cNvSpPr txBox="1"/>
          <p:nvPr>
            <p:custDataLst>
              <p:tags r:id="rId5"/>
            </p:custDataLst>
          </p:nvPr>
        </p:nvSpPr>
        <p:spPr>
          <a:xfrm>
            <a:off x="2286000" y="306324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DDE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每条结论挂回数据点</a:t>
            </a:r>
            <a:endParaRPr lang="en-US" sz="1800" dirty="0"/>
          </a:p>
        </p:txBody>
      </p:sp>
      <p:sp>
        <p:nvSpPr>
          <p:cNvPr id="8" name="Text 5"/>
          <p:cNvSpPr txBox="1"/>
          <p:nvPr>
            <p:custDataLst>
              <p:tags r:id="rId6"/>
            </p:custDataLst>
          </p:nvPr>
        </p:nvSpPr>
        <p:spPr>
          <a:xfrm>
            <a:off x="777240" y="370332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读得懂</a:t>
            </a:r>
            <a:endParaRPr lang="en-US" sz="2200" dirty="0"/>
          </a:p>
        </p:txBody>
      </p:sp>
      <p:sp>
        <p:nvSpPr>
          <p:cNvPr id="9" name="Text 6"/>
          <p:cNvSpPr txBox="1"/>
          <p:nvPr>
            <p:custDataLst>
              <p:tags r:id="rId7"/>
            </p:custDataLst>
          </p:nvPr>
        </p:nvSpPr>
        <p:spPr>
          <a:xfrm>
            <a:off x="2286000" y="374904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DDE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先给判定，再给报告口径</a:t>
            </a:r>
            <a:endParaRPr lang="en-US" sz="1800" dirty="0"/>
          </a:p>
        </p:txBody>
      </p:sp>
      <p:sp>
        <p:nvSpPr>
          <p:cNvPr id="10" name="Text 7"/>
          <p:cNvSpPr txBox="1"/>
          <p:nvPr>
            <p:custDataLst>
              <p:tags r:id="rId8"/>
            </p:custDataLst>
          </p:nvPr>
        </p:nvSpPr>
        <p:spPr>
          <a:xfrm>
            <a:off x="777240" y="438912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改得准</a:t>
            </a:r>
            <a:endParaRPr lang="en-US" sz="2200" dirty="0"/>
          </a:p>
        </p:txBody>
      </p:sp>
      <p:sp>
        <p:nvSpPr>
          <p:cNvPr id="11" name="Text 8"/>
          <p:cNvSpPr txBox="1"/>
          <p:nvPr>
            <p:custDataLst>
              <p:tags r:id="rId9"/>
            </p:custDataLst>
          </p:nvPr>
        </p:nvSpPr>
        <p:spPr>
          <a:xfrm>
            <a:off x="2286000" y="443484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DDE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误差分型，带参数推演下一次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5349240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现场演示：HCl 标定与碱灰总碱度（GB/T 601-2016）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github.com/felix-0602/LabInfer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08.8,&quot;left&quot;:61.2,&quot;top&quot;:183.6,&quot;width&quot;:442.8}"/>
</p:tagLst>
</file>

<file path=ppt/tags/tag2.xml><?xml version="1.0" encoding="utf-8"?>
<p:tagLst xmlns:p="http://schemas.openxmlformats.org/presentationml/2006/main">
  <p:tag name="KSO_WM_DIAGRAM_VIRTUALLY_FRAME" val="{&quot;height&quot;:208.8,&quot;left&quot;:61.2,&quot;top&quot;:183.6,&quot;width&quot;:442.8}"/>
</p:tagLst>
</file>

<file path=ppt/tags/tag3.xml><?xml version="1.0" encoding="utf-8"?>
<p:tagLst xmlns:p="http://schemas.openxmlformats.org/presentationml/2006/main">
  <p:tag name="KSO_WM_DIAGRAM_VIRTUALLY_FRAME" val="{&quot;height&quot;:208.8,&quot;left&quot;:61.2,&quot;top&quot;:183.6,&quot;width&quot;:442.8}"/>
</p:tagLst>
</file>

<file path=ppt/tags/tag4.xml><?xml version="1.0" encoding="utf-8"?>
<p:tagLst xmlns:p="http://schemas.openxmlformats.org/presentationml/2006/main">
  <p:tag name="KSO_WM_DIAGRAM_VIRTUALLY_FRAME" val="{&quot;height&quot;:208.8,&quot;left&quot;:61.2,&quot;top&quot;:183.6,&quot;width&quot;:442.8}"/>
</p:tagLst>
</file>

<file path=ppt/tags/tag5.xml><?xml version="1.0" encoding="utf-8"?>
<p:tagLst xmlns:p="http://schemas.openxmlformats.org/presentationml/2006/main">
  <p:tag name="KSO_WM_DIAGRAM_VIRTUALLY_FRAME" val="{&quot;height&quot;:208.8,&quot;left&quot;:61.2,&quot;top&quot;:183.6,&quot;width&quot;:442.8}"/>
</p:tagLst>
</file>

<file path=ppt/tags/tag6.xml><?xml version="1.0" encoding="utf-8"?>
<p:tagLst xmlns:p="http://schemas.openxmlformats.org/presentationml/2006/main">
  <p:tag name="KSO_WM_DIAGRAM_VIRTUALLY_FRAME" val="{&quot;height&quot;:208.8,&quot;left&quot;:61.2,&quot;top&quot;:183.6,&quot;width&quot;:442.8}"/>
</p:tagLst>
</file>

<file path=ppt/tags/tag7.xml><?xml version="1.0" encoding="utf-8"?>
<p:tagLst xmlns:p="http://schemas.openxmlformats.org/presentationml/2006/main">
  <p:tag name="KSO_WM_DIAGRAM_VIRTUALLY_FRAME" val="{&quot;height&quot;:208.8,&quot;left&quot;:61.2,&quot;top&quot;:183.6,&quot;width&quot;:442.8}"/>
</p:tagLst>
</file>

<file path=ppt/tags/tag8.xml><?xml version="1.0" encoding="utf-8"?>
<p:tagLst xmlns:p="http://schemas.openxmlformats.org/presentationml/2006/main">
  <p:tag name="KSO_WM_DIAGRAM_VIRTUALLY_FRAME" val="{&quot;height&quot;:208.8,&quot;left&quot;:61.2,&quot;top&quot;:183.6,&quot;width&quot;:442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3440</Words>
  <Application>WPS 演示</Application>
  <PresentationFormat>On-screen Show (16:9)</PresentationFormat>
  <Paragraphs>511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3" baseType="lpstr">
      <vt:lpstr>Arial</vt:lpstr>
      <vt:lpstr>宋体</vt:lpstr>
      <vt:lpstr>Wingdings</vt:lpstr>
      <vt:lpstr>Arial</vt:lpstr>
      <vt:lpstr>Arial</vt:lpstr>
      <vt:lpstr>微软雅黑</vt:lpstr>
      <vt:lpstr>微软雅黑</vt:lpstr>
      <vt:lpstr>Courier New</vt:lpstr>
      <vt:lpstr>Courier New</vt:lpstr>
      <vt:lpstr>Courier New</vt:lpstr>
      <vt:lpstr>Arial Unicode MS</vt:lpstr>
      <vt:lpstr>等线</vt:lpstr>
      <vt:lpstr>楷体</vt:lpstr>
      <vt:lpstr>等线 Light</vt:lpstr>
      <vt:lpstr>黑体</vt:lpstr>
      <vt:lpstr>Bahnschrift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LabInfer</dc:title>
  <dc:creator>PptxGenJS</dc:creator>
  <dc:subject>PptxGenJS Presentation</dc:subject>
  <cp:lastModifiedBy>胡睿轩</cp:lastModifiedBy>
  <cp:revision>2</cp:revision>
  <dcterms:created xsi:type="dcterms:W3CDTF">2026-10-20T06:36:00Z</dcterms:created>
  <dcterms:modified xsi:type="dcterms:W3CDTF">2026-10-22T07:48:48Z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391B9F34AE064A59AFFECA24D65223CC_12</vt:lpwstr>
  </property>
</Properties>
</file>